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24" Type="http://schemas.openxmlformats.org/officeDocument/2006/relationships/slide" Target="slides/slide20.xml"/><Relationship Id="rId12" Type="http://schemas.openxmlformats.org/officeDocument/2006/relationships/slide" Target="slides/slide8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df4dd144d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adf4dd144d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e2053dc55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ae2053dc55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e2053dc55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ae2053dc55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e2053dc55_0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ae2053dc55_0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e2053dc55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ae2053dc55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e2053dc55_0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ae2053dc55_0_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e2053dc55_0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ae2053dc55_0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e3085f71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ae3085f71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e3085f713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ae3085f713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e4891726b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ae4891726b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ae4891726b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ae4891726b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e4891726b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ae4891726b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ae4891726b_1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ae4891726b_1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ae5b16031e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ae5b16031e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ae5029d2b8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ae5029d2b8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ae5b16031e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ae5b16031e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e5029d2b8_0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ae5029d2b8_0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logo for a university&#10;&#10;Description automatically generated" id="88" name="Google Shape;8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472" y="4579665"/>
            <a:ext cx="21431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2569009" y="2710210"/>
            <a:ext cx="10517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002060"/>
                </a:solidFill>
              </a:rPr>
              <a:t>STA 610: Case Study</a:t>
            </a:r>
            <a:endParaRPr b="1" sz="5400">
              <a:solidFill>
                <a:srgbClr val="002060"/>
              </a:solidFill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5795350" y="4407875"/>
            <a:ext cx="4670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</a:rPr>
              <a:t>Presenter: Zixiao Tan </a:t>
            </a:r>
            <a:endParaRPr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logo for a university&#10;&#10;Description automatically generated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46222" y="4465115"/>
            <a:ext cx="21431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650356" y="362175"/>
            <a:ext cx="31293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rgbClr val="002060"/>
                </a:solidFill>
              </a:rPr>
              <a:t>Overview</a:t>
            </a:r>
            <a:endParaRPr b="1" sz="4500">
              <a:solidFill>
                <a:srgbClr val="002060"/>
              </a:solidFill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593075" y="1378725"/>
            <a:ext cx="84933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64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b="1" lang="en-US" sz="2800">
                <a:solidFill>
                  <a:schemeClr val="dk1"/>
                </a:solidFill>
              </a:rPr>
              <a:t>Introduction</a:t>
            </a:r>
            <a:endParaRPr b="1" sz="2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</a:endParaRPr>
          </a:p>
          <a:p>
            <a:pPr indent="-4064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b="1" lang="en-US" sz="2800">
                <a:solidFill>
                  <a:schemeClr val="dk1"/>
                </a:solidFill>
              </a:rPr>
              <a:t>Modeling: </a:t>
            </a:r>
            <a:r>
              <a:rPr b="1" lang="en-US" sz="2800">
                <a:solidFill>
                  <a:schemeClr val="dk1"/>
                </a:solidFill>
              </a:rPr>
              <a:t>Random Effect w/ Fixed Effect</a:t>
            </a:r>
            <a:endParaRPr b="1" sz="2800"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</a:endParaRPr>
          </a:p>
          <a:p>
            <a:pPr indent="-4064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b="1" lang="en-US" sz="2800">
                <a:solidFill>
                  <a:schemeClr val="dk1"/>
                </a:solidFill>
              </a:rPr>
              <a:t>Estimation: Frequentist vs Bayesian</a:t>
            </a:r>
            <a:endParaRPr b="1" sz="2800"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</a:endParaRPr>
          </a:p>
          <a:p>
            <a:pPr indent="-4064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b="1" lang="en-US" sz="2800">
                <a:solidFill>
                  <a:schemeClr val="dk1"/>
                </a:solidFill>
              </a:rPr>
              <a:t>Inference: Frequentist Perspective</a:t>
            </a:r>
            <a:endParaRPr b="1"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/>
        </p:nvSpPr>
        <p:spPr>
          <a:xfrm>
            <a:off x="-877932" y="-186125"/>
            <a:ext cx="5824800" cy="1235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629050">
            <a:spAutoFit/>
          </a:bodyPr>
          <a:lstStyle/>
          <a:p>
            <a:pPr indent="0" lvl="0" marL="4191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Microsoft Yahei"/>
              <a:buNone/>
            </a:pPr>
            <a:r>
              <a:rPr b="1" lang="en-US" sz="3900">
                <a:solidFill>
                  <a:srgbClr val="002060"/>
                </a:solidFill>
              </a:rPr>
              <a:t>Introduction</a:t>
            </a:r>
            <a:endParaRPr sz="1700"/>
          </a:p>
        </p:txBody>
      </p:sp>
      <p:sp>
        <p:nvSpPr>
          <p:cNvPr id="103" name="Google Shape;103;p15"/>
          <p:cNvSpPr txBox="1"/>
          <p:nvPr/>
        </p:nvSpPr>
        <p:spPr>
          <a:xfrm>
            <a:off x="682798" y="1451115"/>
            <a:ext cx="10185000" cy="31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100">
            <a:spAutoFit/>
          </a:bodyPr>
          <a:lstStyle/>
          <a:p>
            <a:pPr indent="-381000" lvl="0" marL="45720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</a:rPr>
              <a:t>Background</a:t>
            </a:r>
            <a:r>
              <a:rPr lang="en-US" sz="2400">
                <a:solidFill>
                  <a:schemeClr val="dk1"/>
                </a:solidFill>
              </a:rPr>
              <a:t>: Using StreetRx data to investigate factors related to price per mg  of Diazepam</a:t>
            </a:r>
            <a:endParaRPr b="1" sz="2400">
              <a:solidFill>
                <a:schemeClr val="dk1"/>
              </a:solidFill>
            </a:endParaRPr>
          </a:p>
          <a:p>
            <a:pPr indent="-381000" lvl="0" marL="45720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</a:rPr>
              <a:t>Goal: </a:t>
            </a:r>
            <a:endParaRPr b="1" sz="2400">
              <a:solidFill>
                <a:schemeClr val="dk1"/>
              </a:solidFill>
            </a:endParaRPr>
          </a:p>
          <a:p>
            <a:pPr indent="-381000" lvl="0" marL="45720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b="1" lang="en-US" sz="2400">
                <a:solidFill>
                  <a:schemeClr val="dk1"/>
                </a:solidFill>
              </a:rPr>
              <a:t>Which </a:t>
            </a:r>
            <a:r>
              <a:rPr b="1" lang="en-US" sz="2400">
                <a:solidFill>
                  <a:srgbClr val="FF0000"/>
                </a:solidFill>
              </a:rPr>
              <a:t>factors</a:t>
            </a:r>
            <a:r>
              <a:rPr b="1" lang="en-US" sz="2400">
                <a:solidFill>
                  <a:schemeClr val="dk1"/>
                </a:solidFill>
              </a:rPr>
              <a:t> associated with ppm of diazepam?</a:t>
            </a:r>
            <a:endParaRPr b="1" sz="2400">
              <a:solidFill>
                <a:schemeClr val="dk1"/>
              </a:solidFill>
            </a:endParaRPr>
          </a:p>
          <a:p>
            <a:pPr indent="-381000" lvl="0" marL="45720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b="1" lang="en-US" sz="2400">
                <a:solidFill>
                  <a:schemeClr val="dk1"/>
                </a:solidFill>
              </a:rPr>
              <a:t>Is </a:t>
            </a:r>
            <a:r>
              <a:rPr b="1" lang="en-US" sz="2400">
                <a:solidFill>
                  <a:schemeClr val="dk1"/>
                </a:solidFill>
              </a:rPr>
              <a:t>there</a:t>
            </a:r>
            <a:r>
              <a:rPr b="1" lang="en-US" sz="2400">
                <a:solidFill>
                  <a:schemeClr val="dk1"/>
                </a:solidFill>
              </a:rPr>
              <a:t> </a:t>
            </a:r>
            <a:r>
              <a:rPr b="1" lang="en-US" sz="2400">
                <a:solidFill>
                  <a:srgbClr val="FF0000"/>
                </a:solidFill>
              </a:rPr>
              <a:t>heterogeneity</a:t>
            </a:r>
            <a:r>
              <a:rPr b="1" lang="en-US" sz="2400">
                <a:solidFill>
                  <a:schemeClr val="dk1"/>
                </a:solidFill>
              </a:rPr>
              <a:t> in pricing of </a:t>
            </a:r>
            <a:r>
              <a:rPr b="1" lang="en-US" sz="2400">
                <a:solidFill>
                  <a:schemeClr val="dk1"/>
                </a:solidFill>
              </a:rPr>
              <a:t>diazepam</a:t>
            </a:r>
            <a:r>
              <a:rPr b="1" lang="en-US" sz="2400">
                <a:solidFill>
                  <a:schemeClr val="dk1"/>
                </a:solidFill>
              </a:rPr>
              <a:t> by location?</a:t>
            </a:r>
            <a:endParaRPr b="1" sz="2400">
              <a:solidFill>
                <a:schemeClr val="dk1"/>
              </a:solidFill>
            </a:endParaRPr>
          </a:p>
        </p:txBody>
      </p:sp>
      <p:pic>
        <p:nvPicPr>
          <p:cNvPr id="104" name="Google Shape;10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90824" y="1950200"/>
            <a:ext cx="2611125" cy="2257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/>
        </p:nvSpPr>
        <p:spPr>
          <a:xfrm>
            <a:off x="-877932" y="-186125"/>
            <a:ext cx="5824800" cy="1235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629050">
            <a:spAutoFit/>
          </a:bodyPr>
          <a:lstStyle/>
          <a:p>
            <a:pPr indent="0" lvl="0" marL="4191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Microsoft Yahei"/>
              <a:buNone/>
            </a:pPr>
            <a:r>
              <a:rPr b="1" lang="en-US" sz="3900">
                <a:solidFill>
                  <a:srgbClr val="002060"/>
                </a:solidFill>
              </a:rPr>
              <a:t>EDA-Variable </a:t>
            </a:r>
            <a:endParaRPr sz="1700"/>
          </a:p>
        </p:txBody>
      </p:sp>
      <p:sp>
        <p:nvSpPr>
          <p:cNvPr id="110" name="Google Shape;110;p16"/>
          <p:cNvSpPr txBox="1"/>
          <p:nvPr/>
        </p:nvSpPr>
        <p:spPr>
          <a:xfrm>
            <a:off x="682798" y="1451115"/>
            <a:ext cx="10185000" cy="3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100">
            <a:spAutoFit/>
          </a:bodyPr>
          <a:lstStyle/>
          <a:p>
            <a:pPr indent="-381000" lvl="0" marL="45720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</a:rPr>
              <a:t>Data En</a:t>
            </a:r>
            <a:r>
              <a:rPr lang="en-US" sz="2400">
                <a:solidFill>
                  <a:schemeClr val="dk1"/>
                </a:solidFill>
              </a:rPr>
              <a:t>: Using StreetRx data to investigate factors related to price per mg  of Diazepam</a:t>
            </a:r>
            <a:endParaRPr b="1" sz="2400">
              <a:solidFill>
                <a:schemeClr val="dk1"/>
              </a:solidFill>
            </a:endParaRPr>
          </a:p>
          <a:p>
            <a:pPr indent="0" lvl="0" marL="12700" marR="5080" rtl="0" algn="l">
              <a:lnSpc>
                <a:spcPct val="1875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Goal: </a:t>
            </a:r>
            <a:endParaRPr b="1" sz="2400">
              <a:solidFill>
                <a:schemeClr val="dk1"/>
              </a:solidFill>
            </a:endParaRPr>
          </a:p>
          <a:p>
            <a:pPr indent="-381000" lvl="0" marL="457200" marR="5080" rtl="0" algn="l">
              <a:lnSpc>
                <a:spcPct val="1875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b="1" lang="en-US" sz="2400">
                <a:solidFill>
                  <a:schemeClr val="dk1"/>
                </a:solidFill>
              </a:rPr>
              <a:t>Which factors associated with ppm of diazepam?</a:t>
            </a:r>
            <a:endParaRPr b="1" sz="2400">
              <a:solidFill>
                <a:schemeClr val="dk1"/>
              </a:solidFill>
            </a:endParaRPr>
          </a:p>
          <a:p>
            <a:pPr indent="-381000" lvl="0" marL="45720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b="1" lang="en-US" sz="2400">
                <a:solidFill>
                  <a:schemeClr val="dk1"/>
                </a:solidFill>
              </a:rPr>
              <a:t>Is there heterogeneity in pricing of diazepam by location?</a:t>
            </a:r>
            <a:endParaRPr b="1" sz="2400">
              <a:solidFill>
                <a:schemeClr val="dk1"/>
              </a:solidFill>
            </a:endParaRPr>
          </a:p>
        </p:txBody>
      </p:sp>
      <p:pic>
        <p:nvPicPr>
          <p:cNvPr id="111" name="Google Shape;11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475" y="1063838"/>
            <a:ext cx="11164024" cy="4730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/>
        </p:nvSpPr>
        <p:spPr>
          <a:xfrm>
            <a:off x="-921132" y="-359000"/>
            <a:ext cx="5824800" cy="1235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629050">
            <a:spAutoFit/>
          </a:bodyPr>
          <a:lstStyle/>
          <a:p>
            <a:pPr indent="0" lvl="0" marL="4191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Microsoft Yahei"/>
              <a:buNone/>
            </a:pPr>
            <a:r>
              <a:rPr b="1" lang="en-US" sz="3900">
                <a:solidFill>
                  <a:srgbClr val="002060"/>
                </a:solidFill>
              </a:rPr>
              <a:t>Data Cleaning</a:t>
            </a:r>
            <a:endParaRPr sz="1700"/>
          </a:p>
        </p:txBody>
      </p:sp>
      <p:sp>
        <p:nvSpPr>
          <p:cNvPr id="117" name="Google Shape;117;p17"/>
          <p:cNvSpPr txBox="1"/>
          <p:nvPr/>
        </p:nvSpPr>
        <p:spPr>
          <a:xfrm>
            <a:off x="553123" y="1147040"/>
            <a:ext cx="10185000" cy="46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100">
            <a:spAutoFit/>
          </a:bodyPr>
          <a:lstStyle/>
          <a:p>
            <a:pPr indent="-381000" lvl="0" marL="45720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</a:rPr>
              <a:t>Data Entry Error</a:t>
            </a:r>
            <a:r>
              <a:rPr lang="en-US" sz="2400">
                <a:solidFill>
                  <a:schemeClr val="dk1"/>
                </a:solidFill>
              </a:rPr>
              <a:t>: </a:t>
            </a:r>
            <a:endParaRPr sz="2400">
              <a:solidFill>
                <a:schemeClr val="dk1"/>
              </a:solidFill>
            </a:endParaRPr>
          </a:p>
          <a:p>
            <a:pPr indent="0" lvl="0" marL="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     </a:t>
            </a:r>
            <a:r>
              <a:rPr lang="en-US" sz="2400">
                <a:solidFill>
                  <a:schemeClr val="dk1"/>
                </a:solidFill>
              </a:rPr>
              <a:t>Source: 2 obs w/ “fuck u” and “Eronhkkjhhhhjj”. 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</a:rPr>
              <a:t>Missing data:</a:t>
            </a:r>
            <a:endParaRPr b="1" sz="2400">
              <a:solidFill>
                <a:schemeClr val="dk1"/>
              </a:solidFill>
            </a:endParaRPr>
          </a:p>
          <a:p>
            <a:pPr indent="-381000" lvl="0" marL="45720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 sz="2400">
                <a:solidFill>
                  <a:schemeClr val="dk1"/>
                </a:solidFill>
              </a:rPr>
              <a:t>Remove obs </a:t>
            </a:r>
            <a:r>
              <a:rPr b="1" lang="en-US" sz="2400">
                <a:solidFill>
                  <a:srgbClr val="FF0000"/>
                </a:solidFill>
              </a:rPr>
              <a:t>without ppm</a:t>
            </a:r>
            <a:endParaRPr b="1" sz="2400">
              <a:solidFill>
                <a:srgbClr val="FF0000"/>
              </a:solidFill>
            </a:endParaRPr>
          </a:p>
          <a:p>
            <a:pPr indent="-381000" lvl="0" marL="45720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 sz="2400">
                <a:solidFill>
                  <a:schemeClr val="dk1"/>
                </a:solidFill>
              </a:rPr>
              <a:t>Remove </a:t>
            </a:r>
            <a:r>
              <a:rPr lang="en-US" sz="2400">
                <a:solidFill>
                  <a:schemeClr val="dk1"/>
                </a:solidFill>
              </a:rPr>
              <a:t>primary_reason (</a:t>
            </a:r>
            <a:r>
              <a:rPr b="1" lang="en-US" sz="2400">
                <a:solidFill>
                  <a:srgbClr val="FF0000"/>
                </a:solidFill>
              </a:rPr>
              <a:t>over 50% missing</a:t>
            </a:r>
            <a:r>
              <a:rPr lang="en-US" sz="2400">
                <a:solidFill>
                  <a:schemeClr val="dk1"/>
                </a:solidFill>
              </a:rPr>
              <a:t>)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</a:rPr>
              <a:t>Uninformative data:</a:t>
            </a:r>
            <a:endParaRPr b="1" sz="2400">
              <a:solidFill>
                <a:schemeClr val="dk1"/>
              </a:solidFill>
            </a:endParaRPr>
          </a:p>
          <a:p>
            <a:pPr indent="0" lvl="0" marL="0" marR="5080" rtl="0" algn="l">
              <a:lnSpc>
                <a:spcPct val="1875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   </a:t>
            </a:r>
            <a:r>
              <a:rPr lang="en-US" sz="2400">
                <a:solidFill>
                  <a:schemeClr val="dk1"/>
                </a:solidFill>
              </a:rPr>
              <a:t> country (always USA),  form_temp(always pills)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118" name="Google Shape;11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0938" y="1078390"/>
            <a:ext cx="3977873" cy="1923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16925" y="3328150"/>
            <a:ext cx="2421201" cy="2421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/>
          <p:cNvSpPr txBox="1"/>
          <p:nvPr/>
        </p:nvSpPr>
        <p:spPr>
          <a:xfrm>
            <a:off x="-1545550" y="-175250"/>
            <a:ext cx="9309300" cy="1235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629050">
            <a:spAutoFit/>
          </a:bodyPr>
          <a:lstStyle/>
          <a:p>
            <a:pPr indent="0" lvl="0" marL="4191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Microsoft Yahei"/>
              <a:buNone/>
            </a:pPr>
            <a:r>
              <a:rPr b="1" lang="en-US" sz="3900">
                <a:solidFill>
                  <a:srgbClr val="002060"/>
                </a:solidFill>
              </a:rPr>
              <a:t>Outcome variable:ppm</a:t>
            </a:r>
            <a:endParaRPr sz="1700"/>
          </a:p>
        </p:txBody>
      </p:sp>
      <p:sp>
        <p:nvSpPr>
          <p:cNvPr id="125" name="Google Shape;125;p18"/>
          <p:cNvSpPr txBox="1"/>
          <p:nvPr/>
        </p:nvSpPr>
        <p:spPr>
          <a:xfrm>
            <a:off x="319498" y="1614290"/>
            <a:ext cx="10185000" cy="25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100">
            <a:spAutoFit/>
          </a:bodyPr>
          <a:lstStyle/>
          <a:p>
            <a:pPr indent="-381000" lvl="0" marL="45720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</a:rPr>
              <a:t>Log transformation of ppm</a:t>
            </a:r>
            <a:endParaRPr b="1" sz="2400">
              <a:solidFill>
                <a:schemeClr val="dk1"/>
              </a:solidFill>
            </a:endParaRPr>
          </a:p>
          <a:p>
            <a:pPr indent="0" lvl="0" marL="45720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Left: highly </a:t>
            </a:r>
            <a:r>
              <a:rPr b="1" lang="en-US" sz="2400">
                <a:solidFill>
                  <a:srgbClr val="FF0000"/>
                </a:solidFill>
              </a:rPr>
              <a:t>right-skewed</a:t>
            </a:r>
            <a:r>
              <a:rPr lang="en-US" sz="2400">
                <a:solidFill>
                  <a:schemeClr val="dk1"/>
                </a:solidFill>
              </a:rPr>
              <a:t>  ➡️   right: relatively </a:t>
            </a:r>
            <a:r>
              <a:rPr b="1" lang="en-US" sz="2400">
                <a:solidFill>
                  <a:srgbClr val="FF0000"/>
                </a:solidFill>
              </a:rPr>
              <a:t>normal</a:t>
            </a:r>
            <a:r>
              <a:rPr lang="en-US" sz="2400">
                <a:solidFill>
                  <a:srgbClr val="FF0000"/>
                </a:solidFill>
              </a:rPr>
              <a:t> </a:t>
            </a:r>
            <a:r>
              <a:rPr lang="en-US" sz="2400">
                <a:solidFill>
                  <a:schemeClr val="dk1"/>
                </a:solidFill>
              </a:rPr>
              <a:t>and </a:t>
            </a:r>
            <a:r>
              <a:rPr b="1" lang="en-US" sz="2400">
                <a:solidFill>
                  <a:srgbClr val="FF0000"/>
                </a:solidFill>
              </a:rPr>
              <a:t>symmetric</a:t>
            </a:r>
            <a:endParaRPr b="1" sz="2400">
              <a:solidFill>
                <a:srgbClr val="FF0000"/>
              </a:solidFill>
            </a:endParaRPr>
          </a:p>
          <a:p>
            <a:pPr indent="0" lvl="0" marL="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   </a:t>
            </a:r>
            <a:endParaRPr sz="2400">
              <a:solidFill>
                <a:schemeClr val="dk1"/>
              </a:solidFill>
            </a:endParaRPr>
          </a:p>
          <a:p>
            <a:pPr indent="0" lvl="0" marL="0" marR="5080" rtl="0" algn="l">
              <a:lnSpc>
                <a:spcPct val="1875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126" name="Google Shape;126;p18"/>
          <p:cNvPicPr preferRelativeResize="0"/>
          <p:nvPr/>
        </p:nvPicPr>
        <p:blipFill rotWithShape="1">
          <a:blip r:embed="rId3">
            <a:alphaModFix/>
          </a:blip>
          <a:srcRect b="0" l="0" r="0" t="18798"/>
          <a:stretch/>
        </p:blipFill>
        <p:spPr>
          <a:xfrm>
            <a:off x="197700" y="2978850"/>
            <a:ext cx="11796601" cy="285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9"/>
          <p:cNvPicPr preferRelativeResize="0"/>
          <p:nvPr/>
        </p:nvPicPr>
        <p:blipFill rotWithShape="1">
          <a:blip r:embed="rId3">
            <a:alphaModFix/>
          </a:blip>
          <a:srcRect b="7270" l="0" r="0" t="0"/>
          <a:stretch/>
        </p:blipFill>
        <p:spPr>
          <a:xfrm>
            <a:off x="377250" y="3743725"/>
            <a:ext cx="6448999" cy="238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9"/>
          <p:cNvSpPr txBox="1"/>
          <p:nvPr/>
        </p:nvSpPr>
        <p:spPr>
          <a:xfrm>
            <a:off x="-2492050" y="-245700"/>
            <a:ext cx="9309300" cy="1235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629050">
            <a:spAutoFit/>
          </a:bodyPr>
          <a:lstStyle/>
          <a:p>
            <a:pPr indent="0" lvl="0" marL="4191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Microsoft Yahei"/>
              <a:buNone/>
            </a:pPr>
            <a:r>
              <a:rPr b="1" lang="en-US" sz="3900">
                <a:solidFill>
                  <a:srgbClr val="002060"/>
                </a:solidFill>
              </a:rPr>
              <a:t>Random Effect</a:t>
            </a:r>
            <a:endParaRPr sz="1700"/>
          </a:p>
        </p:txBody>
      </p:sp>
      <p:sp>
        <p:nvSpPr>
          <p:cNvPr id="133" name="Google Shape;133;p19"/>
          <p:cNvSpPr txBox="1"/>
          <p:nvPr/>
        </p:nvSpPr>
        <p:spPr>
          <a:xfrm>
            <a:off x="377248" y="1296765"/>
            <a:ext cx="10185000" cy="17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100">
            <a:spAutoFit/>
          </a:bodyPr>
          <a:lstStyle/>
          <a:p>
            <a:pPr indent="-381000" lvl="0" marL="45720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</a:rPr>
              <a:t>State: </a:t>
            </a:r>
            <a:r>
              <a:rPr lang="en-US" sz="2400">
                <a:solidFill>
                  <a:schemeClr val="dk1"/>
                </a:solidFill>
              </a:rPr>
              <a:t>some variation by state ✅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</a:rPr>
              <a:t>Region: </a:t>
            </a:r>
            <a:r>
              <a:rPr lang="en-US" sz="2400">
                <a:solidFill>
                  <a:schemeClr val="dk1"/>
                </a:solidFill>
              </a:rPr>
              <a:t>not much variation by region ❌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</a:rPr>
              <a:t>city: </a:t>
            </a:r>
            <a:r>
              <a:rPr lang="en-US" sz="2400">
                <a:solidFill>
                  <a:schemeClr val="dk1"/>
                </a:solidFill>
              </a:rPr>
              <a:t> many data entry error ❌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134" name="Google Shape;13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82003" y="1197625"/>
            <a:ext cx="5086576" cy="5114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/>
        </p:nvSpPr>
        <p:spPr>
          <a:xfrm>
            <a:off x="-1421675" y="-214725"/>
            <a:ext cx="9309300" cy="1235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629050">
            <a:spAutoFit/>
          </a:bodyPr>
          <a:lstStyle/>
          <a:p>
            <a:pPr indent="0" lvl="0" marL="4191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Microsoft Yahei"/>
              <a:buNone/>
            </a:pPr>
            <a:r>
              <a:rPr b="1" lang="en-US" sz="3900">
                <a:solidFill>
                  <a:srgbClr val="002060"/>
                </a:solidFill>
              </a:rPr>
              <a:t>Fixed</a:t>
            </a:r>
            <a:r>
              <a:rPr b="1" lang="en-US" sz="3900">
                <a:solidFill>
                  <a:srgbClr val="002060"/>
                </a:solidFill>
              </a:rPr>
              <a:t> Effect-</a:t>
            </a:r>
            <a:r>
              <a:rPr b="1" lang="en-US" sz="3900">
                <a:solidFill>
                  <a:srgbClr val="002060"/>
                </a:solidFill>
              </a:rPr>
              <a:t>continuous</a:t>
            </a:r>
            <a:endParaRPr sz="1700"/>
          </a:p>
        </p:txBody>
      </p:sp>
      <p:sp>
        <p:nvSpPr>
          <p:cNvPr id="140" name="Google Shape;140;p20"/>
          <p:cNvSpPr txBox="1"/>
          <p:nvPr/>
        </p:nvSpPr>
        <p:spPr>
          <a:xfrm>
            <a:off x="344200" y="1572575"/>
            <a:ext cx="10562400" cy="11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100">
            <a:spAutoFit/>
          </a:bodyPr>
          <a:lstStyle/>
          <a:p>
            <a:pPr indent="-381000" lvl="0" marL="45720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</a:rPr>
              <a:t>year</a:t>
            </a:r>
            <a:r>
              <a:rPr b="1" lang="en-US" sz="2400">
                <a:solidFill>
                  <a:schemeClr val="dk1"/>
                </a:solidFill>
              </a:rPr>
              <a:t>: </a:t>
            </a:r>
            <a:r>
              <a:rPr lang="en-US" sz="2400">
                <a:solidFill>
                  <a:schemeClr val="dk1"/>
                </a:solidFill>
              </a:rPr>
              <a:t>box plot show variations across year ➡️ include year as Fixed Effect</a:t>
            </a:r>
            <a:endParaRPr sz="2400">
              <a:solidFill>
                <a:schemeClr val="dk1"/>
              </a:solidFill>
            </a:endParaRPr>
          </a:p>
          <a:p>
            <a:pPr indent="0" lvl="0" marL="45720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141" name="Google Shape;14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7150" y="2673265"/>
            <a:ext cx="9315450" cy="350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6275" y="1857165"/>
            <a:ext cx="8563333" cy="415573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1"/>
          <p:cNvSpPr txBox="1"/>
          <p:nvPr/>
        </p:nvSpPr>
        <p:spPr>
          <a:xfrm>
            <a:off x="-2034725" y="-214725"/>
            <a:ext cx="9309300" cy="1235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629050">
            <a:spAutoFit/>
          </a:bodyPr>
          <a:lstStyle/>
          <a:p>
            <a:pPr indent="0" lvl="0" marL="4191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Microsoft Yahei"/>
              <a:buNone/>
            </a:pPr>
            <a:r>
              <a:rPr b="1" lang="en-US" sz="3900">
                <a:solidFill>
                  <a:srgbClr val="002060"/>
                </a:solidFill>
              </a:rPr>
              <a:t>Fixed Effect-factor </a:t>
            </a:r>
            <a:endParaRPr sz="1700"/>
          </a:p>
        </p:txBody>
      </p:sp>
      <p:sp>
        <p:nvSpPr>
          <p:cNvPr id="148" name="Google Shape;148;p21"/>
          <p:cNvSpPr txBox="1"/>
          <p:nvPr/>
        </p:nvSpPr>
        <p:spPr>
          <a:xfrm>
            <a:off x="377248" y="1296765"/>
            <a:ext cx="10185000" cy="3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100">
            <a:spAutoFit/>
          </a:bodyPr>
          <a:lstStyle/>
          <a:p>
            <a:pPr indent="-381000" lvl="0" marL="45720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</a:rPr>
              <a:t>mgstr (dosage strength): factor variable</a:t>
            </a:r>
            <a:endParaRPr b="1" sz="2400">
              <a:solidFill>
                <a:schemeClr val="dk1"/>
              </a:solidFill>
            </a:endParaRPr>
          </a:p>
          <a:p>
            <a:pPr indent="0" lvl="0" marL="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     2, 4, 5, 10 mg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</a:rPr>
              <a:t>Bulk Purchase:</a:t>
            </a:r>
            <a:endParaRPr b="1" sz="2400">
              <a:solidFill>
                <a:schemeClr val="dk1"/>
              </a:solidFill>
            </a:endParaRPr>
          </a:p>
          <a:p>
            <a:pPr indent="0" lvl="0" marL="45720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Binary (0/1)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</a:rPr>
              <a:t>Source:</a:t>
            </a:r>
            <a:endParaRPr b="1" sz="2400">
              <a:solidFill>
                <a:schemeClr val="dk1"/>
              </a:solidFill>
            </a:endParaRPr>
          </a:p>
          <a:p>
            <a:pPr indent="0" lvl="0" marL="45720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3 level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2"/>
          <p:cNvPicPr preferRelativeResize="0"/>
          <p:nvPr/>
        </p:nvPicPr>
        <p:blipFill rotWithShape="1">
          <a:blip r:embed="rId3">
            <a:alphaModFix/>
          </a:blip>
          <a:srcRect b="2573" l="0" r="0" t="14693"/>
          <a:stretch/>
        </p:blipFill>
        <p:spPr>
          <a:xfrm>
            <a:off x="1358725" y="3164426"/>
            <a:ext cx="9309300" cy="356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2"/>
          <p:cNvSpPr txBox="1"/>
          <p:nvPr/>
        </p:nvSpPr>
        <p:spPr>
          <a:xfrm>
            <a:off x="-2303100" y="-396500"/>
            <a:ext cx="9309300" cy="1235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629050">
            <a:spAutoFit/>
          </a:bodyPr>
          <a:lstStyle/>
          <a:p>
            <a:pPr indent="0" lvl="0" marL="4191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Microsoft Yahei"/>
              <a:buNone/>
            </a:pPr>
            <a:r>
              <a:rPr b="1" lang="en-US" sz="3900">
                <a:solidFill>
                  <a:srgbClr val="002060"/>
                </a:solidFill>
              </a:rPr>
              <a:t>Model Selection</a:t>
            </a:r>
            <a:r>
              <a:rPr b="1" lang="en-US" sz="3900">
                <a:solidFill>
                  <a:srgbClr val="002060"/>
                </a:solidFill>
              </a:rPr>
              <a:t> </a:t>
            </a:r>
            <a:endParaRPr sz="1700"/>
          </a:p>
        </p:txBody>
      </p:sp>
      <p:sp>
        <p:nvSpPr>
          <p:cNvPr id="155" name="Google Shape;155;p22"/>
          <p:cNvSpPr txBox="1"/>
          <p:nvPr/>
        </p:nvSpPr>
        <p:spPr>
          <a:xfrm>
            <a:off x="344175" y="839200"/>
            <a:ext cx="12727200" cy="31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100">
            <a:spAutoFit/>
          </a:bodyPr>
          <a:lstStyle/>
          <a:p>
            <a:pPr indent="-381000" lvl="0" marL="45720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</a:rPr>
              <a:t>Fixed Effect (4)</a:t>
            </a:r>
            <a:r>
              <a:rPr b="1" lang="en-US" sz="2400">
                <a:solidFill>
                  <a:schemeClr val="dk1"/>
                </a:solidFill>
              </a:rPr>
              <a:t>: </a:t>
            </a:r>
            <a:r>
              <a:rPr lang="en-US" sz="2400">
                <a:solidFill>
                  <a:schemeClr val="dk1"/>
                </a:solidFill>
              </a:rPr>
              <a:t>mgstr, bulk_purchase, source, year. </a:t>
            </a:r>
            <a:r>
              <a:rPr b="1" lang="en-US" sz="2400">
                <a:solidFill>
                  <a:schemeClr val="dk1"/>
                </a:solidFill>
              </a:rPr>
              <a:t>Random Effect: </a:t>
            </a:r>
            <a:r>
              <a:rPr lang="en-US" sz="2400">
                <a:solidFill>
                  <a:schemeClr val="dk1"/>
                </a:solidFill>
              </a:rPr>
              <a:t>state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</a:rPr>
              <a:t>Two-way Interaction(6): </a:t>
            </a:r>
            <a:r>
              <a:rPr lang="en-US" sz="2400">
                <a:solidFill>
                  <a:schemeClr val="dk1"/>
                </a:solidFill>
              </a:rPr>
              <a:t>➡️ 2^10 = 1024 possible models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</a:rPr>
              <a:t>Select model with smallest BIC: </a:t>
            </a:r>
            <a:r>
              <a:rPr lang="en-US" sz="2400">
                <a:solidFill>
                  <a:schemeClr val="dk1"/>
                </a:solidFill>
              </a:rPr>
              <a:t>no two-way interaction</a:t>
            </a:r>
            <a:endParaRPr sz="2400">
              <a:solidFill>
                <a:schemeClr val="dk1"/>
              </a:solidFill>
            </a:endParaRPr>
          </a:p>
          <a:p>
            <a:pPr indent="0" lvl="0" marL="45720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                  </a:t>
            </a:r>
            <a:endParaRPr b="1" sz="2400">
              <a:solidFill>
                <a:schemeClr val="dk1"/>
              </a:solidFill>
            </a:endParaRPr>
          </a:p>
          <a:p>
            <a:pPr indent="0" lvl="0" marL="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                                                                                        ✅                                                                         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 txBox="1"/>
          <p:nvPr/>
        </p:nvSpPr>
        <p:spPr>
          <a:xfrm>
            <a:off x="-2931050" y="-379975"/>
            <a:ext cx="9309300" cy="1235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629050">
            <a:spAutoFit/>
          </a:bodyPr>
          <a:lstStyle/>
          <a:p>
            <a:pPr indent="0" lvl="0" marL="4191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Microsoft Yahei"/>
              <a:buNone/>
            </a:pPr>
            <a:r>
              <a:rPr b="1" lang="en-US" sz="3900">
                <a:solidFill>
                  <a:srgbClr val="002060"/>
                </a:solidFill>
              </a:rPr>
              <a:t>Final </a:t>
            </a:r>
            <a:r>
              <a:rPr b="1" lang="en-US" sz="3900">
                <a:solidFill>
                  <a:srgbClr val="002060"/>
                </a:solidFill>
              </a:rPr>
              <a:t>Model</a:t>
            </a:r>
            <a:endParaRPr sz="1700"/>
          </a:p>
        </p:txBody>
      </p:sp>
      <p:sp>
        <p:nvSpPr>
          <p:cNvPr id="161" name="Google Shape;161;p23"/>
          <p:cNvSpPr txBox="1"/>
          <p:nvPr/>
        </p:nvSpPr>
        <p:spPr>
          <a:xfrm>
            <a:off x="410298" y="999315"/>
            <a:ext cx="10185000" cy="24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100">
            <a:spAutoFit/>
          </a:bodyPr>
          <a:lstStyle/>
          <a:p>
            <a:pPr indent="-381000" lvl="0" marL="45720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</a:rPr>
              <a:t>Fixed Effect (3): mgstr, bulk_purchase, source</a:t>
            </a:r>
            <a:endParaRPr b="1" sz="2400">
              <a:solidFill>
                <a:schemeClr val="dk1"/>
              </a:solidFill>
            </a:endParaRPr>
          </a:p>
          <a:p>
            <a:pPr indent="-381000" lvl="0" marL="45720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</a:rPr>
              <a:t>Random Effect: state</a:t>
            </a:r>
            <a:endParaRPr b="1" sz="2400">
              <a:solidFill>
                <a:schemeClr val="dk1"/>
              </a:solidFill>
            </a:endParaRPr>
          </a:p>
          <a:p>
            <a:pPr indent="-381000" lvl="0" marL="45720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</a:rPr>
              <a:t>No Two-way </a:t>
            </a:r>
            <a:r>
              <a:rPr b="1" lang="en-US" sz="2400">
                <a:solidFill>
                  <a:schemeClr val="dk1"/>
                </a:solidFill>
              </a:rPr>
              <a:t>Interaction based on BIC criteria</a:t>
            </a:r>
            <a:endParaRPr b="1" sz="2400">
              <a:solidFill>
                <a:schemeClr val="dk1"/>
              </a:solidFill>
            </a:endParaRPr>
          </a:p>
          <a:p>
            <a:pPr indent="0" lvl="0" marL="45720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162" name="Google Shape;16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7538" y="3224599"/>
            <a:ext cx="10671676" cy="232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4"/>
          <p:cNvSpPr txBox="1"/>
          <p:nvPr/>
        </p:nvSpPr>
        <p:spPr>
          <a:xfrm>
            <a:off x="-2931050" y="-379975"/>
            <a:ext cx="9309300" cy="1235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629050">
            <a:spAutoFit/>
          </a:bodyPr>
          <a:lstStyle/>
          <a:p>
            <a:pPr indent="0" lvl="0" marL="4191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Microsoft Yahei"/>
              <a:buNone/>
            </a:pPr>
            <a:r>
              <a:rPr b="1" lang="en-US" sz="3900">
                <a:solidFill>
                  <a:srgbClr val="002060"/>
                </a:solidFill>
              </a:rPr>
              <a:t>Estimation</a:t>
            </a:r>
            <a:endParaRPr sz="1700"/>
          </a:p>
        </p:txBody>
      </p:sp>
      <p:sp>
        <p:nvSpPr>
          <p:cNvPr id="168" name="Google Shape;168;p24"/>
          <p:cNvSpPr txBox="1"/>
          <p:nvPr/>
        </p:nvSpPr>
        <p:spPr>
          <a:xfrm>
            <a:off x="410298" y="999315"/>
            <a:ext cx="10185000" cy="3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100">
            <a:spAutoFit/>
          </a:bodyPr>
          <a:lstStyle/>
          <a:p>
            <a:pPr indent="-381000" lvl="0" marL="45720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</a:rPr>
              <a:t>Frequentist: MLE</a:t>
            </a:r>
            <a:endParaRPr b="1" sz="2400">
              <a:solidFill>
                <a:schemeClr val="dk1"/>
              </a:solidFill>
            </a:endParaRPr>
          </a:p>
          <a:p>
            <a:pPr indent="0" lvl="0" marL="45720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Estimate via lme4</a:t>
            </a:r>
            <a:r>
              <a:rPr lang="en-US" sz="2400">
                <a:solidFill>
                  <a:schemeClr val="dk1"/>
                </a:solidFill>
              </a:rPr>
              <a:t> package in R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</a:rPr>
              <a:t>Bayesian:</a:t>
            </a:r>
            <a:endParaRPr b="1" sz="2400">
              <a:solidFill>
                <a:schemeClr val="dk1"/>
              </a:solidFill>
            </a:endParaRPr>
          </a:p>
          <a:p>
            <a:pPr indent="0" lvl="0" marL="45720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Do not have much information about the model ➡️ </a:t>
            </a:r>
            <a:r>
              <a:rPr b="1" lang="en-US" sz="2400">
                <a:solidFill>
                  <a:srgbClr val="FF0000"/>
                </a:solidFill>
              </a:rPr>
              <a:t>uninformative prior </a:t>
            </a:r>
            <a:endParaRPr b="1" sz="2400">
              <a:solidFill>
                <a:srgbClr val="FF0000"/>
              </a:solidFill>
            </a:endParaRPr>
          </a:p>
          <a:p>
            <a:pPr indent="0" lvl="0" marL="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</a:endParaRPr>
          </a:p>
          <a:p>
            <a:pPr indent="0" lvl="0" marL="45720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169" name="Google Shape;16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6950" y="3802790"/>
            <a:ext cx="541020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5"/>
          <p:cNvSpPr txBox="1"/>
          <p:nvPr/>
        </p:nvSpPr>
        <p:spPr>
          <a:xfrm>
            <a:off x="-1829775" y="-385100"/>
            <a:ext cx="9309300" cy="1235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629050">
            <a:spAutoFit/>
          </a:bodyPr>
          <a:lstStyle/>
          <a:p>
            <a:pPr indent="0" lvl="0" marL="4191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Microsoft Yahei"/>
              <a:buNone/>
            </a:pPr>
            <a:r>
              <a:rPr b="1" lang="en-US" sz="3900">
                <a:solidFill>
                  <a:srgbClr val="002060"/>
                </a:solidFill>
              </a:rPr>
              <a:t>Bayesian Estimation</a:t>
            </a:r>
            <a:endParaRPr sz="1700"/>
          </a:p>
        </p:txBody>
      </p:sp>
      <p:sp>
        <p:nvSpPr>
          <p:cNvPr id="175" name="Google Shape;175;p25"/>
          <p:cNvSpPr txBox="1"/>
          <p:nvPr/>
        </p:nvSpPr>
        <p:spPr>
          <a:xfrm>
            <a:off x="245048" y="999315"/>
            <a:ext cx="10185000" cy="52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100">
            <a:spAutoFit/>
          </a:bodyPr>
          <a:lstStyle/>
          <a:p>
            <a:pPr indent="-381000" lvl="0" marL="45720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</a:rPr>
              <a:t>Posterior Check</a:t>
            </a:r>
            <a:endParaRPr b="1" sz="2400">
              <a:solidFill>
                <a:schemeClr val="dk1"/>
              </a:solidFill>
            </a:endParaRPr>
          </a:p>
          <a:p>
            <a:pPr indent="0" lvl="0" marL="45720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The plot shows posterior</a:t>
            </a:r>
            <a:endParaRPr sz="2400">
              <a:solidFill>
                <a:schemeClr val="dk1"/>
              </a:solidFill>
            </a:endParaRPr>
          </a:p>
          <a:p>
            <a:pPr indent="0" lvl="0" marL="45720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distributions for all parameter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</a:rPr>
              <a:t>Traceplot</a:t>
            </a:r>
            <a:endParaRPr b="1" sz="2400">
              <a:solidFill>
                <a:schemeClr val="dk1"/>
              </a:solidFill>
            </a:endParaRPr>
          </a:p>
          <a:p>
            <a:pPr indent="0" lvl="0" marL="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      sampling </a:t>
            </a:r>
            <a:r>
              <a:rPr b="1" lang="en-US" sz="2400">
                <a:solidFill>
                  <a:srgbClr val="FF0000"/>
                </a:solidFill>
              </a:rPr>
              <a:t>chains converge</a:t>
            </a:r>
            <a:endParaRPr b="1" sz="2400">
              <a:solidFill>
                <a:srgbClr val="FF0000"/>
              </a:solidFill>
            </a:endParaRPr>
          </a:p>
          <a:p>
            <a:pPr indent="0" lvl="0" marL="45720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</a:endParaRPr>
          </a:p>
          <a:p>
            <a:pPr indent="0" lvl="0" marL="45720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176" name="Google Shape;176;p25"/>
          <p:cNvPicPr preferRelativeResize="0"/>
          <p:nvPr/>
        </p:nvPicPr>
        <p:blipFill rotWithShape="1">
          <a:blip r:embed="rId3">
            <a:alphaModFix/>
          </a:blip>
          <a:srcRect b="0" l="0" r="9999" t="0"/>
          <a:stretch/>
        </p:blipFill>
        <p:spPr>
          <a:xfrm>
            <a:off x="4789525" y="1018413"/>
            <a:ext cx="6745150" cy="521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6"/>
          <p:cNvSpPr txBox="1"/>
          <p:nvPr/>
        </p:nvSpPr>
        <p:spPr>
          <a:xfrm>
            <a:off x="-871300" y="-368575"/>
            <a:ext cx="9309300" cy="1235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629050">
            <a:spAutoFit/>
          </a:bodyPr>
          <a:lstStyle/>
          <a:p>
            <a:pPr indent="0" lvl="0" marL="4191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Microsoft Yahei"/>
              <a:buNone/>
            </a:pPr>
            <a:r>
              <a:rPr b="1" lang="en-US" sz="3900">
                <a:solidFill>
                  <a:srgbClr val="002060"/>
                </a:solidFill>
              </a:rPr>
              <a:t>          </a:t>
            </a:r>
            <a:r>
              <a:rPr b="1" lang="en-US" sz="3900">
                <a:solidFill>
                  <a:srgbClr val="002060"/>
                </a:solidFill>
              </a:rPr>
              <a:t>Model Comparison</a:t>
            </a:r>
            <a:endParaRPr sz="1700"/>
          </a:p>
        </p:txBody>
      </p:sp>
      <p:sp>
        <p:nvSpPr>
          <p:cNvPr id="182" name="Google Shape;182;p26"/>
          <p:cNvSpPr txBox="1"/>
          <p:nvPr/>
        </p:nvSpPr>
        <p:spPr>
          <a:xfrm>
            <a:off x="327675" y="1081946"/>
            <a:ext cx="10185000" cy="17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100">
            <a:spAutoFit/>
          </a:bodyPr>
          <a:lstStyle/>
          <a:p>
            <a:pPr indent="-381000" lvl="0" marL="45720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</a:rPr>
              <a:t>Frequentist vs Bayesian</a:t>
            </a:r>
            <a:endParaRPr b="1" sz="2400">
              <a:solidFill>
                <a:schemeClr val="dk1"/>
              </a:solidFill>
            </a:endParaRPr>
          </a:p>
          <a:p>
            <a:pPr indent="0" lvl="0" marL="45720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Compare the point estimates of the parameter, almost </a:t>
            </a:r>
            <a:r>
              <a:rPr b="1" lang="en-US" sz="2400">
                <a:solidFill>
                  <a:srgbClr val="FF0000"/>
                </a:solidFill>
              </a:rPr>
              <a:t>the same</a:t>
            </a:r>
            <a:endParaRPr b="1" sz="2400">
              <a:solidFill>
                <a:srgbClr val="FF0000"/>
              </a:solidFill>
            </a:endParaRPr>
          </a:p>
          <a:p>
            <a:pPr indent="-381000" lvl="0" marL="45720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</a:rPr>
              <a:t>Interpretation: </a:t>
            </a:r>
            <a:r>
              <a:rPr lang="en-US" sz="2400">
                <a:solidFill>
                  <a:schemeClr val="dk1"/>
                </a:solidFill>
              </a:rPr>
              <a:t>choose frequentist model 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183" name="Google Shape;183;p26"/>
          <p:cNvPicPr preferRelativeResize="0"/>
          <p:nvPr/>
        </p:nvPicPr>
        <p:blipFill rotWithShape="1">
          <a:blip r:embed="rId3">
            <a:alphaModFix/>
          </a:blip>
          <a:srcRect b="0" l="0" r="0" t="17648"/>
          <a:stretch/>
        </p:blipFill>
        <p:spPr>
          <a:xfrm>
            <a:off x="1670450" y="3255500"/>
            <a:ext cx="9189350" cy="278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7"/>
          <p:cNvSpPr txBox="1"/>
          <p:nvPr/>
        </p:nvSpPr>
        <p:spPr>
          <a:xfrm>
            <a:off x="-871300" y="-368575"/>
            <a:ext cx="9309300" cy="1235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629050">
            <a:spAutoFit/>
          </a:bodyPr>
          <a:lstStyle/>
          <a:p>
            <a:pPr indent="0" lvl="0" marL="4191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Microsoft Yahei"/>
              <a:buNone/>
            </a:pPr>
            <a:r>
              <a:rPr b="1" lang="en-US" sz="3900">
                <a:solidFill>
                  <a:srgbClr val="002060"/>
                </a:solidFill>
              </a:rPr>
              <a:t>         </a:t>
            </a:r>
            <a:r>
              <a:rPr b="1" lang="en-US" sz="3600">
                <a:solidFill>
                  <a:srgbClr val="002060"/>
                </a:solidFill>
              </a:rPr>
              <a:t> Fixed Effect</a:t>
            </a:r>
            <a:endParaRPr sz="1700"/>
          </a:p>
        </p:txBody>
      </p:sp>
      <p:sp>
        <p:nvSpPr>
          <p:cNvPr id="189" name="Google Shape;189;p27"/>
          <p:cNvSpPr txBox="1"/>
          <p:nvPr/>
        </p:nvSpPr>
        <p:spPr>
          <a:xfrm>
            <a:off x="327675" y="1081950"/>
            <a:ext cx="11137200" cy="31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100">
            <a:spAutoFit/>
          </a:bodyPr>
          <a:lstStyle/>
          <a:p>
            <a:pPr indent="-381000" lvl="0" marL="45720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</a:rPr>
              <a:t>Dosage( Reference level  2mg)</a:t>
            </a:r>
            <a:endParaRPr b="1" sz="2400">
              <a:solidFill>
                <a:schemeClr val="dk1"/>
              </a:solidFill>
            </a:endParaRPr>
          </a:p>
          <a:p>
            <a:pPr indent="0" lvl="0" marL="45720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Price per mg decreases as dosage increases. Relative to 2mg pills, 10mg pills are </a:t>
            </a:r>
            <a:r>
              <a:rPr b="1" lang="en-US" sz="2400">
                <a:solidFill>
                  <a:srgbClr val="FF0000"/>
                </a:solidFill>
              </a:rPr>
              <a:t>71.5% cheaper </a:t>
            </a:r>
            <a:r>
              <a:rPr lang="en-US" sz="2400">
                <a:solidFill>
                  <a:schemeClr val="dk1"/>
                </a:solidFill>
              </a:rPr>
              <a:t>(e^{-1.254} = 0.285).</a:t>
            </a:r>
            <a:endParaRPr sz="2400">
              <a:solidFill>
                <a:schemeClr val="dk1"/>
              </a:solidFill>
            </a:endParaRPr>
          </a:p>
          <a:p>
            <a:pPr indent="0" lvl="0" marL="45720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</a:endParaRPr>
          </a:p>
          <a:p>
            <a:pPr indent="0" lvl="0" marL="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190" name="Google Shape;19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4700" y="3089875"/>
            <a:ext cx="7269875" cy="329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8"/>
          <p:cNvSpPr txBox="1"/>
          <p:nvPr/>
        </p:nvSpPr>
        <p:spPr>
          <a:xfrm>
            <a:off x="-871300" y="-368575"/>
            <a:ext cx="9309300" cy="1235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629050">
            <a:spAutoFit/>
          </a:bodyPr>
          <a:lstStyle/>
          <a:p>
            <a:pPr indent="0" lvl="0" marL="4191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Microsoft Yahei"/>
              <a:buNone/>
            </a:pPr>
            <a:r>
              <a:rPr b="1" lang="en-US" sz="3900">
                <a:solidFill>
                  <a:srgbClr val="002060"/>
                </a:solidFill>
              </a:rPr>
              <a:t>         </a:t>
            </a:r>
            <a:r>
              <a:rPr b="1" lang="en-US" sz="3600">
                <a:solidFill>
                  <a:srgbClr val="002060"/>
                </a:solidFill>
              </a:rPr>
              <a:t> Fixed Effect</a:t>
            </a:r>
            <a:endParaRPr sz="1700"/>
          </a:p>
        </p:txBody>
      </p:sp>
      <p:sp>
        <p:nvSpPr>
          <p:cNvPr id="196" name="Google Shape;196;p28"/>
          <p:cNvSpPr txBox="1"/>
          <p:nvPr/>
        </p:nvSpPr>
        <p:spPr>
          <a:xfrm>
            <a:off x="327675" y="1081950"/>
            <a:ext cx="11137200" cy="31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100">
            <a:spAutoFit/>
          </a:bodyPr>
          <a:lstStyle/>
          <a:p>
            <a:pPr indent="-381000" lvl="0" marL="45720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</a:rPr>
              <a:t>Bulk </a:t>
            </a:r>
            <a:r>
              <a:rPr b="1" lang="en-US" sz="2400">
                <a:solidFill>
                  <a:schemeClr val="dk1"/>
                </a:solidFill>
              </a:rPr>
              <a:t>( Reference level “ no bulk </a:t>
            </a:r>
            <a:r>
              <a:rPr b="1" lang="en-US" sz="2400">
                <a:solidFill>
                  <a:schemeClr val="dk1"/>
                </a:solidFill>
              </a:rPr>
              <a:t>purchase</a:t>
            </a:r>
            <a:r>
              <a:rPr b="1" lang="en-US" sz="2400">
                <a:solidFill>
                  <a:schemeClr val="dk1"/>
                </a:solidFill>
              </a:rPr>
              <a:t>”)</a:t>
            </a:r>
            <a:endParaRPr b="1" sz="2400">
              <a:solidFill>
                <a:schemeClr val="dk1"/>
              </a:solidFill>
            </a:endParaRPr>
          </a:p>
          <a:p>
            <a:pPr indent="0" lvl="0" marL="45720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Purchasing in bulk offers an </a:t>
            </a:r>
            <a:r>
              <a:rPr b="1" lang="en-US" sz="2400">
                <a:solidFill>
                  <a:srgbClr val="FF0000"/>
                </a:solidFill>
              </a:rPr>
              <a:t>18% discount </a:t>
            </a:r>
            <a:r>
              <a:rPr lang="en-US" sz="2400">
                <a:solidFill>
                  <a:schemeClr val="dk1"/>
                </a:solidFill>
              </a:rPr>
              <a:t>compared to single purchases (e^{-0.199} = 0.820).</a:t>
            </a:r>
            <a:endParaRPr sz="2400">
              <a:solidFill>
                <a:schemeClr val="dk1"/>
              </a:solidFill>
            </a:endParaRPr>
          </a:p>
          <a:p>
            <a:pPr indent="0" lvl="0" marL="45720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</a:endParaRPr>
          </a:p>
          <a:p>
            <a:pPr indent="0" lvl="0" marL="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197" name="Google Shape;19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4700" y="3089875"/>
            <a:ext cx="7269875" cy="329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3100" y="144600"/>
            <a:ext cx="5563465" cy="656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9"/>
          <p:cNvSpPr txBox="1"/>
          <p:nvPr/>
        </p:nvSpPr>
        <p:spPr>
          <a:xfrm>
            <a:off x="-871300" y="-368575"/>
            <a:ext cx="9309300" cy="1235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629050">
            <a:spAutoFit/>
          </a:bodyPr>
          <a:lstStyle/>
          <a:p>
            <a:pPr indent="0" lvl="0" marL="4191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Microsoft Yahei"/>
              <a:buNone/>
            </a:pPr>
            <a:r>
              <a:rPr b="1" lang="en-US" sz="3900">
                <a:solidFill>
                  <a:srgbClr val="002060"/>
                </a:solidFill>
              </a:rPr>
              <a:t>         </a:t>
            </a:r>
            <a:r>
              <a:rPr b="1" lang="en-US" sz="3600">
                <a:solidFill>
                  <a:srgbClr val="002060"/>
                </a:solidFill>
              </a:rPr>
              <a:t> Random Effect</a:t>
            </a:r>
            <a:r>
              <a:rPr b="1" lang="en-US" sz="3900">
                <a:solidFill>
                  <a:srgbClr val="002060"/>
                </a:solidFill>
              </a:rPr>
              <a:t> </a:t>
            </a:r>
            <a:endParaRPr sz="1700"/>
          </a:p>
        </p:txBody>
      </p:sp>
      <p:sp>
        <p:nvSpPr>
          <p:cNvPr id="204" name="Google Shape;204;p29"/>
          <p:cNvSpPr txBox="1"/>
          <p:nvPr/>
        </p:nvSpPr>
        <p:spPr>
          <a:xfrm>
            <a:off x="377250" y="1098471"/>
            <a:ext cx="10185000" cy="52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100">
            <a:spAutoFit/>
          </a:bodyPr>
          <a:lstStyle/>
          <a:p>
            <a:pPr indent="-381000" lvl="0" marL="45720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</a:rPr>
              <a:t>General pattern</a:t>
            </a:r>
            <a:endParaRPr b="1" sz="2400">
              <a:solidFill>
                <a:schemeClr val="dk1"/>
              </a:solidFill>
            </a:endParaRPr>
          </a:p>
          <a:p>
            <a:pPr indent="0" lvl="0" marL="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Most states’ confidence intervals</a:t>
            </a:r>
            <a:r>
              <a:rPr lang="en-US" sz="2400">
                <a:solidFill>
                  <a:srgbClr val="FF0000"/>
                </a:solidFill>
              </a:rPr>
              <a:t> </a:t>
            </a:r>
            <a:r>
              <a:rPr lang="en-US" sz="2400">
                <a:solidFill>
                  <a:schemeClr val="dk1"/>
                </a:solidFill>
              </a:rPr>
              <a:t>cross zero, </a:t>
            </a:r>
            <a:endParaRPr sz="2400">
              <a:solidFill>
                <a:schemeClr val="dk1"/>
              </a:solidFill>
            </a:endParaRPr>
          </a:p>
          <a:p>
            <a:pPr indent="0" lvl="0" marL="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baseline prices </a:t>
            </a:r>
            <a:r>
              <a:rPr b="1" lang="en-US" sz="2400">
                <a:solidFill>
                  <a:srgbClr val="FF0000"/>
                </a:solidFill>
              </a:rPr>
              <a:t>do not differ significantly</a:t>
            </a:r>
            <a:endParaRPr b="1" sz="2400">
              <a:solidFill>
                <a:srgbClr val="FF0000"/>
              </a:solidFill>
            </a:endParaRPr>
          </a:p>
          <a:p>
            <a:pPr indent="0" lvl="0" marL="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0000"/>
                </a:solidFill>
              </a:rPr>
              <a:t> from the national average.</a:t>
            </a:r>
            <a:endParaRPr b="1" sz="2400">
              <a:solidFill>
                <a:srgbClr val="FF0000"/>
              </a:solidFill>
            </a:endParaRPr>
          </a:p>
          <a:p>
            <a:pPr indent="-381000" lvl="0" marL="45720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</a:rPr>
              <a:t>Exception:</a:t>
            </a:r>
            <a:endParaRPr b="1" sz="2400">
              <a:solidFill>
                <a:schemeClr val="dk1"/>
              </a:solidFill>
            </a:endParaRPr>
          </a:p>
          <a:p>
            <a:pPr indent="0" lvl="0" marL="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New York state CI does not contain 0 </a:t>
            </a:r>
            <a:endParaRPr sz="2400">
              <a:solidFill>
                <a:schemeClr val="dk1"/>
              </a:solidFill>
            </a:endParaRPr>
          </a:p>
          <a:p>
            <a:pPr indent="0" lvl="0" marL="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3100" y="144600"/>
            <a:ext cx="5563465" cy="656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30"/>
          <p:cNvSpPr txBox="1"/>
          <p:nvPr/>
        </p:nvSpPr>
        <p:spPr>
          <a:xfrm>
            <a:off x="-871300" y="-368575"/>
            <a:ext cx="9309300" cy="1235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629050">
            <a:spAutoFit/>
          </a:bodyPr>
          <a:lstStyle/>
          <a:p>
            <a:pPr indent="0" lvl="0" marL="4191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Microsoft Yahei"/>
              <a:buNone/>
            </a:pPr>
            <a:r>
              <a:rPr b="1" lang="en-US" sz="3900">
                <a:solidFill>
                  <a:srgbClr val="002060"/>
                </a:solidFill>
              </a:rPr>
              <a:t>         </a:t>
            </a:r>
            <a:r>
              <a:rPr b="1" lang="en-US" sz="3600">
                <a:solidFill>
                  <a:srgbClr val="002060"/>
                </a:solidFill>
              </a:rPr>
              <a:t> Random Effect</a:t>
            </a:r>
            <a:r>
              <a:rPr b="1" lang="en-US" sz="3900">
                <a:solidFill>
                  <a:srgbClr val="002060"/>
                </a:solidFill>
              </a:rPr>
              <a:t> </a:t>
            </a:r>
            <a:endParaRPr sz="1700"/>
          </a:p>
        </p:txBody>
      </p:sp>
      <p:sp>
        <p:nvSpPr>
          <p:cNvPr id="211" name="Google Shape;211;p30"/>
          <p:cNvSpPr txBox="1"/>
          <p:nvPr/>
        </p:nvSpPr>
        <p:spPr>
          <a:xfrm>
            <a:off x="299325" y="1160821"/>
            <a:ext cx="10185000" cy="59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100">
            <a:spAutoFit/>
          </a:bodyPr>
          <a:lstStyle/>
          <a:p>
            <a:pPr indent="-381000" lvl="0" marL="45720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</a:rPr>
              <a:t>General pattern</a:t>
            </a:r>
            <a:endParaRPr b="1" sz="2400">
              <a:solidFill>
                <a:schemeClr val="dk1"/>
              </a:solidFill>
            </a:endParaRPr>
          </a:p>
          <a:p>
            <a:pPr indent="0" lvl="0" marL="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Most states’ confidence intervals cross zero, 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</a:rPr>
              <a:t>Exception: New York State</a:t>
            </a:r>
            <a:endParaRPr b="1" sz="2400">
              <a:solidFill>
                <a:schemeClr val="dk1"/>
              </a:solidFill>
            </a:endParaRPr>
          </a:p>
          <a:p>
            <a:pPr indent="0" lvl="0" marL="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a </a:t>
            </a:r>
            <a:r>
              <a:rPr b="1" lang="en-US" sz="2400">
                <a:solidFill>
                  <a:srgbClr val="FF0000"/>
                </a:solidFill>
              </a:rPr>
              <a:t>significantly higher baseline price</a:t>
            </a:r>
            <a:r>
              <a:rPr lang="en-US" sz="2400">
                <a:solidFill>
                  <a:schemeClr val="dk1"/>
                </a:solidFill>
              </a:rPr>
              <a:t> in </a:t>
            </a:r>
            <a:endParaRPr sz="2400">
              <a:solidFill>
                <a:schemeClr val="dk1"/>
              </a:solidFill>
            </a:endParaRPr>
          </a:p>
          <a:p>
            <a:pPr indent="0" lvl="0" marL="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New York compared to other states.</a:t>
            </a:r>
            <a:endParaRPr sz="2400">
              <a:solidFill>
                <a:schemeClr val="dk1"/>
              </a:solidFill>
            </a:endParaRPr>
          </a:p>
          <a:p>
            <a:pPr indent="0" lvl="0" marL="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</a:endParaRPr>
          </a:p>
          <a:p>
            <a:pPr indent="0" lvl="0" marL="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</a:endParaRPr>
          </a:p>
          <a:p>
            <a:pPr indent="0" lvl="0" marL="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1"/>
          <p:cNvSpPr txBox="1"/>
          <p:nvPr/>
        </p:nvSpPr>
        <p:spPr>
          <a:xfrm>
            <a:off x="-871300" y="-368575"/>
            <a:ext cx="9309300" cy="1235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629050">
            <a:spAutoFit/>
          </a:bodyPr>
          <a:lstStyle/>
          <a:p>
            <a:pPr indent="0" lvl="0" marL="4191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Microsoft Yahei"/>
              <a:buNone/>
            </a:pPr>
            <a:r>
              <a:rPr b="1" lang="en-US" sz="3900">
                <a:solidFill>
                  <a:srgbClr val="002060"/>
                </a:solidFill>
              </a:rPr>
              <a:t>         </a:t>
            </a:r>
            <a:r>
              <a:rPr b="1" lang="en-US" sz="3600">
                <a:solidFill>
                  <a:srgbClr val="002060"/>
                </a:solidFill>
              </a:rPr>
              <a:t> Inference</a:t>
            </a:r>
            <a:r>
              <a:rPr b="1" lang="en-US" sz="3900">
                <a:solidFill>
                  <a:srgbClr val="002060"/>
                </a:solidFill>
              </a:rPr>
              <a:t> </a:t>
            </a:r>
            <a:endParaRPr sz="1700"/>
          </a:p>
        </p:txBody>
      </p:sp>
      <p:sp>
        <p:nvSpPr>
          <p:cNvPr id="217" name="Google Shape;217;p31"/>
          <p:cNvSpPr txBox="1"/>
          <p:nvPr/>
        </p:nvSpPr>
        <p:spPr>
          <a:xfrm>
            <a:off x="377250" y="1098475"/>
            <a:ext cx="11686200" cy="24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100">
            <a:spAutoFit/>
          </a:bodyPr>
          <a:lstStyle/>
          <a:p>
            <a:pPr indent="-381000" lvl="0" marL="45720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</a:rPr>
              <a:t>Intraclass Correlation (ICC)</a:t>
            </a:r>
            <a:endParaRPr b="1" sz="2400">
              <a:solidFill>
                <a:schemeClr val="dk1"/>
              </a:solidFill>
            </a:endParaRPr>
          </a:p>
          <a:p>
            <a:pPr indent="0" lvl="0" marL="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     only </a:t>
            </a:r>
            <a:r>
              <a:rPr b="1" lang="en-US" sz="2400">
                <a:solidFill>
                  <a:srgbClr val="FF0000"/>
                </a:solidFill>
              </a:rPr>
              <a:t>1.2% </a:t>
            </a:r>
            <a:r>
              <a:rPr lang="en-US" sz="2400">
                <a:solidFill>
                  <a:schemeClr val="dk1"/>
                </a:solidFill>
              </a:rPr>
              <a:t>of price variability is explained by </a:t>
            </a:r>
            <a:r>
              <a:rPr b="1" lang="en-US" sz="2400">
                <a:solidFill>
                  <a:srgbClr val="FF0000"/>
                </a:solidFill>
              </a:rPr>
              <a:t>between-state</a:t>
            </a:r>
            <a:r>
              <a:rPr lang="en-US" sz="2400">
                <a:solidFill>
                  <a:schemeClr val="dk1"/>
                </a:solidFill>
              </a:rPr>
              <a:t> differences. </a:t>
            </a:r>
            <a:endParaRPr sz="2400">
              <a:solidFill>
                <a:schemeClr val="dk1"/>
              </a:solidFill>
            </a:endParaRPr>
          </a:p>
          <a:p>
            <a:pPr indent="0" lvl="0" marL="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     vast majority (</a:t>
            </a:r>
            <a:r>
              <a:rPr b="1" lang="en-US" sz="2400">
                <a:solidFill>
                  <a:srgbClr val="FF0000"/>
                </a:solidFill>
              </a:rPr>
              <a:t>98.8%</a:t>
            </a:r>
            <a:r>
              <a:rPr lang="en-US" sz="2400">
                <a:solidFill>
                  <a:schemeClr val="dk1"/>
                </a:solidFill>
              </a:rPr>
              <a:t>) is attributable to </a:t>
            </a:r>
            <a:r>
              <a:rPr b="1" lang="en-US" sz="2400">
                <a:solidFill>
                  <a:srgbClr val="FF0000"/>
                </a:solidFill>
              </a:rPr>
              <a:t>within-state</a:t>
            </a:r>
            <a:r>
              <a:rPr lang="en-US" sz="2400">
                <a:solidFill>
                  <a:schemeClr val="dk1"/>
                </a:solidFill>
              </a:rPr>
              <a:t> variance</a:t>
            </a:r>
            <a:endParaRPr sz="2400">
              <a:solidFill>
                <a:schemeClr val="dk1"/>
              </a:solidFill>
            </a:endParaRPr>
          </a:p>
          <a:p>
            <a:pPr indent="0" lvl="0" marL="0" marR="508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218" name="Google Shape;21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4825" y="3354600"/>
            <a:ext cx="7102351" cy="258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2"/>
          <p:cNvSpPr txBox="1"/>
          <p:nvPr/>
        </p:nvSpPr>
        <p:spPr>
          <a:xfrm>
            <a:off x="696280" y="3015839"/>
            <a:ext cx="11060697" cy="629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57658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576580" marR="508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225" name="Google Shape;225;p32"/>
          <p:cNvSpPr txBox="1"/>
          <p:nvPr/>
        </p:nvSpPr>
        <p:spPr>
          <a:xfrm>
            <a:off x="191834" y="2188284"/>
            <a:ext cx="11303886" cy="137388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629050">
            <a:spAutoFit/>
          </a:bodyPr>
          <a:lstStyle/>
          <a:p>
            <a:pPr indent="0" lvl="0" marL="4191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800"/>
              <a:buFont typeface="Microsoft Yahei"/>
              <a:buNone/>
            </a:pPr>
            <a:r>
              <a:rPr b="1" lang="en-US" sz="4800">
                <a:solidFill>
                  <a:srgbClr val="00206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