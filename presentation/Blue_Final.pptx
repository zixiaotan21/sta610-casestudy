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61" r:id="rId6"/>
    <p:sldId id="259" r:id="rId7"/>
    <p:sldId id="265" r:id="rId8"/>
    <p:sldId id="267" r:id="rId9"/>
    <p:sldId id="266" r:id="rId10"/>
    <p:sldId id="260" r:id="rId11"/>
    <p:sldId id="262" r:id="rId12"/>
    <p:sldId id="263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56" autoAdjust="0"/>
    <p:restoredTop sz="94609" autoAdjust="0"/>
  </p:normalViewPr>
  <p:slideViewPr>
    <p:cSldViewPr snapToGrid="0">
      <p:cViewPr varScale="1">
        <p:scale>
          <a:sx n="57" d="100"/>
          <a:sy n="57" d="100"/>
        </p:scale>
        <p:origin x="192" y="9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55641-E7FB-4309-872A-702BCCF5B03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DDCD6-6A9D-4F42-A375-10235E37B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3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DDCD6-6A9D-4F42-A375-10235E37B52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50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D84A-3375-809C-A814-7819FB98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84B44-E530-F8B4-F310-C5A0F5059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8747A-EEC8-A9B2-6890-3979506E0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EACDA-6FF1-33CA-A1D7-62080B6C4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DDCD6-6A9D-4F42-A375-10235E37B52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57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454EE-AB4D-4E4B-A458-9A809236B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946430-6F5F-FF60-514B-7CDF32421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F8C99-AF75-93A8-57A7-CA47CC49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E2E6D-1352-4695-B01E-2893AC0E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EE0732-48F9-080B-B055-2C5B0DE0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47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A2BFE-8585-FF8D-9F32-B59ECE41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A6D6B3-862D-BD7D-5C31-4DDE4C09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905ED-BD14-5A2B-4F6A-08BDC4BC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EEF94-1914-7E83-2C50-5A8498A1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A0E4A9-E8D5-1F22-23AA-DC79916A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99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2FEDA-D1C1-ED63-2318-FC189307A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0BFB98-FE61-069F-0D22-008A5E45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FFCE6-E958-18CA-34FB-2CA44B93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31947-CB63-260D-9736-3A31F02D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3F817-D5DA-6FFF-61BD-FE4F2B5D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46E6D-2BDE-B75A-4DCA-A4549D56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40310-9559-0A38-A59F-B20A10D4E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83B739-DF98-9F9F-300F-3290872ED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8161EB-D7C7-F3AE-DAB2-CFF274BA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5AD975-9A87-9FB5-970B-3C6BBF91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B338C3-C878-C713-7ECA-8BB932F8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3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8B359-0427-CED0-B6BB-C688BD28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4278D7-CA27-A09D-7E58-089B792D8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3491A-1424-18B0-CF6B-2E6FCBBC1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EB4A65-B9D1-A219-8E43-CF695B6C3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4EB71A-9FBB-9CD5-1369-54F3BE8A4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6DEC23-C25D-4CB5-207C-718266D0F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3CEE1C-E0F9-A1CE-6F33-7E5AB0E2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30E3E3-BC88-C9CD-EA81-C4B0A7CB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5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AFBD9-DCC0-85FA-32B0-8775A08F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FCD4DB-5D5B-91FD-2441-619D8F70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EA79C7-7E35-B5B5-00BE-08C3472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0D910F-7816-35CE-FEBF-832BA7ED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31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468578-41A8-17AF-300B-60F968C1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5B8EC7-3AF3-0E0D-545E-F2FD13AA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6DF366-9820-5EB6-85D6-0B8C08D0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83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4C480-D007-93EC-E45B-4C4A34C1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1B8C8-9CF1-0C2C-122C-76A1F88A7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C22A35-4175-1CC7-C2BA-0F4F09043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7F3B2D-8985-2302-B294-42D8BCF5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4BE564-CBE6-2482-CBA1-B0EA3CC3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5FA220-C43B-7B65-64AF-999FA025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544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F1BF1-ECB7-100F-0C4F-629A225C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CEE91A-11D1-6667-F8A1-DADC2DFD9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BC9DD0-3B1E-75EB-03AD-5AC5AD470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992839-465B-3817-2FED-99CFB80B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16B895-25A7-6CEF-BBAB-AAB9D4CF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E70DE1-4F09-DD52-30F5-21C55BC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B1681-3DAA-61F4-9EF4-D6E1C94F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8F1981-F6D5-7C57-EAAA-DBCA1A3A0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11C99-609F-210B-E1D4-83B9AF18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97A01-AA04-213D-7805-76419A24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0E381C-F8F9-BB1A-577A-E56B3967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4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3E297D-5B41-B5AC-B6B0-16C2CF1A0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1DB1FE-9B1F-8BEA-D312-A4A382A0B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4924E-45CD-EE4F-1603-DF687E58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E4F95-7D0D-9881-1C37-076660E2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DA334E-642D-3C09-02D2-95C5129B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96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27C690-735C-8C4D-0B99-19F8C2EC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C0745-8515-B84E-A500-2657EADDA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3E5CEB-0B4F-8FFF-29C2-A35D5BBDA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B8E31-DB48-46A0-9719-93C7856126AE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022EEE-CA7C-1546-F9C9-44F2C295B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53BBE-95A4-945C-5E25-58CC0EA84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1F8C-7693-4B06-8DD4-D456BCF79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9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for a university&#10;&#10;Description automatically generated">
            <a:extLst>
              <a:ext uri="{FF2B5EF4-FFF2-40B4-BE49-F238E27FC236}">
                <a16:creationId xmlns:a16="http://schemas.microsoft.com/office/drawing/2014/main" id="{ABD8E351-4D5E-3CAD-09DE-B2C45F304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72" y="4579665"/>
            <a:ext cx="2143125" cy="2143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599213-2109-B1F3-625C-8EBADC4EA7F0}"/>
              </a:ext>
            </a:extLst>
          </p:cNvPr>
          <p:cNvSpPr txBox="1"/>
          <p:nvPr/>
        </p:nvSpPr>
        <p:spPr>
          <a:xfrm>
            <a:off x="2667198" y="2753160"/>
            <a:ext cx="10517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 610: Case Study</a:t>
            </a:r>
            <a:endParaRPr lang="zh-CN" altLang="en-US" sz="5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C19DA-40C7-4FB7-73A5-CF7A78FDC6A2}"/>
              </a:ext>
            </a:extLst>
          </p:cNvPr>
          <p:cNvSpPr txBox="1"/>
          <p:nvPr/>
        </p:nvSpPr>
        <p:spPr>
          <a:xfrm>
            <a:off x="7467601" y="4573475"/>
            <a:ext cx="5381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Zixiao Tan</a:t>
            </a:r>
          </a:p>
        </p:txBody>
      </p:sp>
    </p:spTree>
    <p:extLst>
      <p:ext uri="{BB962C8B-B14F-4D97-AF65-F5344CB8AC3E}">
        <p14:creationId xmlns:p14="http://schemas.microsoft.com/office/powerpoint/2010/main" val="604499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48DDC-3722-71CE-1E9C-956C6CEA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for a university&#10;&#10;Description automatically generated">
            <a:extLst>
              <a:ext uri="{FF2B5EF4-FFF2-40B4-BE49-F238E27FC236}">
                <a16:creationId xmlns:a16="http://schemas.microsoft.com/office/drawing/2014/main" id="{E6C98AB1-AC44-9728-1594-55F7EA56E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72" y="4579665"/>
            <a:ext cx="2143125" cy="2143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653C8-CF75-A9BE-37C3-8F0FE1D623E0}"/>
              </a:ext>
            </a:extLst>
          </p:cNvPr>
          <p:cNvSpPr txBox="1"/>
          <p:nvPr/>
        </p:nvSpPr>
        <p:spPr>
          <a:xfrm>
            <a:off x="4219122" y="206730"/>
            <a:ext cx="10517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 </a:t>
            </a:r>
            <a:endParaRPr lang="zh-CN" altLang="en-US" sz="5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2C3EA-340A-E95A-5C7D-B312A42EE40B}"/>
              </a:ext>
            </a:extLst>
          </p:cNvPr>
          <p:cNvSpPr txBox="1"/>
          <p:nvPr/>
        </p:nvSpPr>
        <p:spPr>
          <a:xfrm>
            <a:off x="3848732" y="1344138"/>
            <a:ext cx="5381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87791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FE8D-4F10-1D07-A42F-15281A58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2">
            <a:extLst>
              <a:ext uri="{FF2B5EF4-FFF2-40B4-BE49-F238E27FC236}">
                <a16:creationId xmlns:a16="http://schemas.microsoft.com/office/drawing/2014/main" id="{E631115F-5BF8-906D-5DCD-1CCD3B560D12}"/>
              </a:ext>
            </a:extLst>
          </p:cNvPr>
          <p:cNvSpPr txBox="1">
            <a:spLocks/>
          </p:cNvSpPr>
          <p:nvPr/>
        </p:nvSpPr>
        <p:spPr>
          <a:xfrm>
            <a:off x="-889390" y="-226056"/>
            <a:ext cx="5824728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</a:t>
            </a:r>
          </a:p>
        </p:txBody>
      </p:sp>
      <p:sp>
        <p:nvSpPr>
          <p:cNvPr id="7" name="object 33">
            <a:extLst>
              <a:ext uri="{FF2B5EF4-FFF2-40B4-BE49-F238E27FC236}">
                <a16:creationId xmlns:a16="http://schemas.microsoft.com/office/drawing/2014/main" id="{AF24BC92-1379-1E2E-2A1D-2C6263C7593C}"/>
              </a:ext>
            </a:extLst>
          </p:cNvPr>
          <p:cNvSpPr txBox="1"/>
          <p:nvPr/>
        </p:nvSpPr>
        <p:spPr>
          <a:xfrm>
            <a:off x="604745" y="1286197"/>
            <a:ext cx="10184880" cy="4776436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300"/>
              </a:spcBef>
            </a:pPr>
            <a:r>
              <a:rPr lang="en-US" sz="2400" b="1" spc="1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Background</a:t>
            </a:r>
            <a:r>
              <a:rPr lang="en-US" sz="2400" spc="1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en-US" sz="2400" spc="-2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Help</a:t>
            </a:r>
            <a:r>
              <a:rPr lang="en-US" sz="2400" spc="4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400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Clover</a:t>
            </a:r>
            <a:r>
              <a:rPr lang="en-US" altLang="zh-CN" sz="2400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Shield</a:t>
            </a:r>
            <a:r>
              <a:rPr lang="en-US" sz="2400" spc="-26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400" spc="229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Insurance</a:t>
            </a:r>
            <a:r>
              <a:rPr lang="en-US" sz="2400" spc="-27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400" spc="2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Company to reduce </a:t>
            </a:r>
            <a:r>
              <a:rPr lang="en-US" sz="2400" b="1" spc="2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call center costs </a:t>
            </a:r>
            <a:r>
              <a:rPr lang="en-US" sz="2400" spc="2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and optimize resource allocation</a:t>
            </a:r>
          </a:p>
          <a:p>
            <a:pPr marL="12700" marR="5080">
              <a:lnSpc>
                <a:spcPts val="4500"/>
              </a:lnSpc>
              <a:spcBef>
                <a:spcPts val="300"/>
              </a:spcBef>
            </a:pPr>
            <a:endParaRPr lang="en-US" sz="2400" b="1" spc="25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700" marR="5080">
              <a:lnSpc>
                <a:spcPts val="4500"/>
              </a:lnSpc>
              <a:spcBef>
                <a:spcPts val="300"/>
              </a:spcBef>
            </a:pPr>
            <a:r>
              <a:rPr lang="en-US" sz="2400" b="1" spc="2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Interest</a:t>
            </a:r>
            <a:r>
              <a:rPr lang="en-US" sz="2400" b="1" spc="-4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12700" marR="5080">
              <a:lnSpc>
                <a:spcPts val="4500"/>
              </a:lnSpc>
              <a:spcBef>
                <a:spcPts val="300"/>
              </a:spcBef>
            </a:pPr>
            <a:r>
              <a:rPr lang="en-US" sz="2400" b="1" spc="-4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dirty="0"/>
              <a:t>Which variables are associated with pricing per milligram of Diazepam?</a:t>
            </a:r>
          </a:p>
          <a:p>
            <a:pPr marL="12700" marR="5080">
              <a:lnSpc>
                <a:spcPts val="4500"/>
              </a:lnSpc>
              <a:spcBef>
                <a:spcPts val="300"/>
              </a:spcBef>
            </a:pPr>
            <a:endParaRPr lang="en-US" sz="2400" b="1" spc="-4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700" marR="5080">
              <a:lnSpc>
                <a:spcPts val="4500"/>
              </a:lnSpc>
              <a:spcBef>
                <a:spcPts val="300"/>
              </a:spcBef>
            </a:pPr>
            <a:r>
              <a:rPr lang="en-US" sz="2400" b="1" spc="-4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E8EE4C-1873-0E74-30AA-3C413FB1A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255" y="2595533"/>
            <a:ext cx="31750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4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11B7-E627-1B39-0448-22AFED2A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60CFB31A-985D-4610-FAAD-20C51B85E1B1}"/>
              </a:ext>
            </a:extLst>
          </p:cNvPr>
          <p:cNvSpPr txBox="1"/>
          <p:nvPr/>
        </p:nvSpPr>
        <p:spPr>
          <a:xfrm>
            <a:off x="343101" y="1466195"/>
            <a:ext cx="6754383" cy="4566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spc="15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Target variables: </a:t>
            </a:r>
            <a:r>
              <a:rPr lang="en-US" altLang="zh-CN" sz="2200" b="1" spc="15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call counts</a:t>
            </a: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spc="155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spc="15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Feature 1: Excessive Zero</a:t>
            </a: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r>
              <a:rPr lang="en-US" altLang="zh-CN" sz="2200" spc="15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Total policies: 80000</a:t>
            </a: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r>
              <a:rPr lang="en-US" altLang="zh-CN" sz="2200" spc="15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Policies with no call counts: 40144 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endParaRPr lang="en-US" sz="22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2200" b="1" spc="155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 2: Imbalanced Data</a:t>
            </a: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r>
              <a:rPr lang="en-US" sz="2200" spc="15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Mean(call counts) = 25.91</a:t>
            </a: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r>
              <a:rPr lang="en-US" sz="2200" spc="15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Variance(call counts) = 1434.03</a:t>
            </a: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endParaRPr lang="en-US" sz="2200" spc="15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lnSpc>
                <a:spcPts val="2700"/>
              </a:lnSpc>
              <a:spcBef>
                <a:spcPts val="110"/>
              </a:spcBef>
            </a:pPr>
            <a:r>
              <a:rPr lang="en-US" sz="2200" spc="15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Variance is greater than mean!</a:t>
            </a: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r>
              <a:rPr lang="en-US" sz="2000" b="1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EAA90362-A193-AFC5-4DC0-2D1B33A2D3B5}"/>
              </a:ext>
            </a:extLst>
          </p:cNvPr>
          <p:cNvSpPr txBox="1">
            <a:spLocks/>
          </p:cNvSpPr>
          <p:nvPr/>
        </p:nvSpPr>
        <p:spPr>
          <a:xfrm>
            <a:off x="0" y="-174833"/>
            <a:ext cx="6568442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Exploratory Data Analysis</a:t>
            </a:r>
          </a:p>
        </p:txBody>
      </p:sp>
      <p:pic>
        <p:nvPicPr>
          <p:cNvPr id="10" name="Picture 9" descr="A graph of a number of numbers&#10;&#10;Description automatically generated">
            <a:extLst>
              <a:ext uri="{FF2B5EF4-FFF2-40B4-BE49-F238E27FC236}">
                <a16:creationId xmlns:a16="http://schemas.microsoft.com/office/drawing/2014/main" id="{2D822FE7-0667-615A-9901-3F21EE4E5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6196"/>
            <a:ext cx="5518418" cy="392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3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9700-FB86-A21C-AAAD-96D42156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4A2934BF-C828-549C-8754-B80D21BF7AD0}"/>
              </a:ext>
            </a:extLst>
          </p:cNvPr>
          <p:cNvSpPr txBox="1"/>
          <p:nvPr/>
        </p:nvSpPr>
        <p:spPr>
          <a:xfrm>
            <a:off x="441073" y="1240325"/>
            <a:ext cx="6754383" cy="47692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220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Predictive variables: </a:t>
            </a:r>
            <a:r>
              <a:rPr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1</a:t>
            </a:r>
            <a:r>
              <a:rPr 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8</a:t>
            </a:r>
            <a:r>
              <a:rPr sz="2200" b="1" spc="-13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  <a:r>
              <a:rPr sz="2200" b="1" spc="4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variables</a:t>
            </a:r>
            <a:r>
              <a:rPr lang="en-US" sz="2200" b="1" spc="4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in total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sz="2200" spc="4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Numerical: 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7 variables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ann_prm_amt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newest_veh_age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home_lot_sq_footage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household_policy_counts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 12m_call_history,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tenure_at_snapshot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trm_len_mo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sz="2200" b="1" spc="7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Categorical:</a:t>
            </a:r>
            <a:r>
              <a:rPr sz="2200" b="1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  <a:r>
              <a:rPr lang="en-US" sz="2200" b="1" spc="-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11 variables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bi_limit_group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channel,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geo_group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has_prior_carrier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telematics_ind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digital_contacts_ind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pay_type_code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acq_mthd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pol_edeliv_ind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product_sbtyp_grp</a:t>
            </a:r>
            <a:r>
              <a:rPr lang="en-US" sz="2200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sz="2200" spc="-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product_sbtyp</a:t>
            </a:r>
            <a:endParaRPr lang="en-US" sz="22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r>
              <a:rPr lang="en-US" sz="2000" b="1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E1A835BE-F800-9EBC-B738-8978D120C53F}"/>
              </a:ext>
            </a:extLst>
          </p:cNvPr>
          <p:cNvSpPr txBox="1">
            <a:spLocks/>
          </p:cNvSpPr>
          <p:nvPr/>
        </p:nvSpPr>
        <p:spPr>
          <a:xfrm>
            <a:off x="0" y="-131289"/>
            <a:ext cx="6568442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Exploratory Data Analysis</a:t>
            </a:r>
          </a:p>
        </p:txBody>
      </p:sp>
      <p:pic>
        <p:nvPicPr>
          <p:cNvPr id="7" name="Picture 6" descr="A graph with numbers and colored bars&#10;&#10;Description automatically generated with medium confidence">
            <a:extLst>
              <a:ext uri="{FF2B5EF4-FFF2-40B4-BE49-F238E27FC236}">
                <a16:creationId xmlns:a16="http://schemas.microsoft.com/office/drawing/2014/main" id="{60F1D169-5E71-54C7-052B-657813D10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554" y="489315"/>
            <a:ext cx="4160336" cy="3379655"/>
          </a:xfrm>
          <a:prstGeom prst="rect">
            <a:avLst/>
          </a:prstGeom>
        </p:spPr>
      </p:pic>
      <p:pic>
        <p:nvPicPr>
          <p:cNvPr id="9" name="Picture 8" descr="A graph with a bar and a number of colored bars&#10;&#10;Description automatically generated with medium confidence">
            <a:extLst>
              <a:ext uri="{FF2B5EF4-FFF2-40B4-BE49-F238E27FC236}">
                <a16:creationId xmlns:a16="http://schemas.microsoft.com/office/drawing/2014/main" id="{E5DB2389-9695-E162-1EAD-92C91CB76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410" y="3624952"/>
            <a:ext cx="3932623" cy="279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5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FA9CB-5D96-2037-848E-CCD7B8CA8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3BA3CFA1-BAAD-4C02-BCE8-9EE2D220A9ED}"/>
              </a:ext>
            </a:extLst>
          </p:cNvPr>
          <p:cNvSpPr txBox="1"/>
          <p:nvPr/>
        </p:nvSpPr>
        <p:spPr>
          <a:xfrm>
            <a:off x="696280" y="3015839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BA9EB160-220E-5410-824D-175558AECAA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573486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780C6-E08A-BEE0-E1C4-6798493257BE}"/>
              </a:ext>
            </a:extLst>
          </p:cNvPr>
          <p:cNvSpPr txBox="1"/>
          <p:nvPr/>
        </p:nvSpPr>
        <p:spPr>
          <a:xfrm>
            <a:off x="435023" y="1412743"/>
            <a:ext cx="6695120" cy="5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Log Transformation: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applied to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ann_prm_amt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and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home_lot_sq_footage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to compress the data.</a:t>
            </a: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Binary Encoding: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converted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bi_limit_group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to binary (1 for "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NonAuto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", otherwise 0).</a:t>
            </a: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Handling Missing Values: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replaced -1 and -2 in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pol_edeliv_ind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and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telematics_ind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with 0 or 1, based on observed proportions.</a:t>
            </a: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Created new variable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tenure_ratio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: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ratio of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tenure_at_snapshot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to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trm_len_mo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.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ts val="27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Created new variable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contact_edeliv_ind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: maximum of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digital_contact_ind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and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pol_edeliv_ind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(digital/email-delivery preference).</a:t>
            </a:r>
          </a:p>
          <a:p>
            <a:pPr marL="355600" indent="-342900">
              <a:lnSpc>
                <a:spcPts val="25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pic>
        <p:nvPicPr>
          <p:cNvPr id="9" name="Picture 8" descr="A graph of a distribution of premium amount&#10;&#10;Description automatically generated">
            <a:extLst>
              <a:ext uri="{FF2B5EF4-FFF2-40B4-BE49-F238E27FC236}">
                <a16:creationId xmlns:a16="http://schemas.microsoft.com/office/drawing/2014/main" id="{0F161F8F-A7E0-3ADE-9D88-7880EB16A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604358"/>
            <a:ext cx="3826816" cy="2718516"/>
          </a:xfrm>
          <a:prstGeom prst="rect">
            <a:avLst/>
          </a:prstGeom>
        </p:spPr>
      </p:pic>
      <p:pic>
        <p:nvPicPr>
          <p:cNvPr id="11" name="Picture 10" descr="A diagram of a distribution graph&#10;&#10;Description automatically generated">
            <a:extLst>
              <a:ext uri="{FF2B5EF4-FFF2-40B4-BE49-F238E27FC236}">
                <a16:creationId xmlns:a16="http://schemas.microsoft.com/office/drawing/2014/main" id="{23A1A43C-871D-3F86-9E59-96BE7E8CC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220" y="3429000"/>
            <a:ext cx="3763752" cy="271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 165">
            <a:extLst>
              <a:ext uri="{FF2B5EF4-FFF2-40B4-BE49-F238E27FC236}">
                <a16:creationId xmlns:a16="http://schemas.microsoft.com/office/drawing/2014/main" id="{5306E44A-E31C-47A3-BEDA-A29A93E4000B}"/>
              </a:ext>
            </a:extLst>
          </p:cNvPr>
          <p:cNvSpPr/>
          <p:nvPr/>
        </p:nvSpPr>
        <p:spPr>
          <a:xfrm>
            <a:off x="277242" y="963756"/>
            <a:ext cx="11637516" cy="5508986"/>
          </a:xfrm>
          <a:prstGeom prst="rect">
            <a:avLst/>
          </a:prstGeom>
          <a:solidFill>
            <a:srgbClr val="223063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6" name="Straight Connector 27">
            <a:extLst>
              <a:ext uri="{FF2B5EF4-FFF2-40B4-BE49-F238E27FC236}">
                <a16:creationId xmlns:a16="http://schemas.microsoft.com/office/drawing/2014/main" id="{BA5076C7-101E-4203-B17B-CD35B7F2A4A5}"/>
              </a:ext>
            </a:extLst>
          </p:cNvPr>
          <p:cNvCxnSpPr>
            <a:cxnSpLocks/>
          </p:cNvCxnSpPr>
          <p:nvPr/>
        </p:nvCxnSpPr>
        <p:spPr>
          <a:xfrm>
            <a:off x="3020815" y="1385051"/>
            <a:ext cx="0" cy="4319650"/>
          </a:xfrm>
          <a:prstGeom prst="line">
            <a:avLst/>
          </a:prstGeom>
          <a:ln w="12700">
            <a:gradFill flip="none" rotWithShape="1">
              <a:gsLst>
                <a:gs pos="40000">
                  <a:schemeClr val="tx1">
                    <a:lumMod val="90000"/>
                    <a:lumOff val="10000"/>
                    <a:alpha val="20000"/>
                  </a:schemeClr>
                </a:gs>
                <a:gs pos="100000">
                  <a:schemeClr val="tx1">
                    <a:lumMod val="90000"/>
                    <a:lumOff val="10000"/>
                    <a:alpha val="0"/>
                  </a:schemeClr>
                </a:gs>
              </a:gsLst>
              <a:lin ang="5400000" scaled="1"/>
              <a:tileRect/>
            </a:gra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03">
            <a:extLst>
              <a:ext uri="{FF2B5EF4-FFF2-40B4-BE49-F238E27FC236}">
                <a16:creationId xmlns:a16="http://schemas.microsoft.com/office/drawing/2014/main" id="{3579A7BD-D27F-4DA5-A86E-A3EC8F9C1745}"/>
              </a:ext>
            </a:extLst>
          </p:cNvPr>
          <p:cNvCxnSpPr>
            <a:cxnSpLocks/>
          </p:cNvCxnSpPr>
          <p:nvPr/>
        </p:nvCxnSpPr>
        <p:spPr>
          <a:xfrm>
            <a:off x="5949164" y="1385051"/>
            <a:ext cx="0" cy="4319650"/>
          </a:xfrm>
          <a:prstGeom prst="line">
            <a:avLst/>
          </a:prstGeom>
          <a:ln w="12700">
            <a:gradFill flip="none" rotWithShape="1">
              <a:gsLst>
                <a:gs pos="40000">
                  <a:schemeClr val="tx1">
                    <a:lumMod val="90000"/>
                    <a:lumOff val="10000"/>
                    <a:alpha val="20000"/>
                  </a:schemeClr>
                </a:gs>
                <a:gs pos="100000">
                  <a:schemeClr val="tx1">
                    <a:lumMod val="90000"/>
                    <a:lumOff val="10000"/>
                    <a:alpha val="0"/>
                  </a:schemeClr>
                </a:gs>
              </a:gsLst>
              <a:lin ang="5400000" scaled="1"/>
              <a:tileRect/>
            </a:gra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E3C5C28B-D8D5-4C61-B85A-200621CAAD4E}"/>
              </a:ext>
            </a:extLst>
          </p:cNvPr>
          <p:cNvCxnSpPr>
            <a:cxnSpLocks/>
          </p:cNvCxnSpPr>
          <p:nvPr/>
        </p:nvCxnSpPr>
        <p:spPr>
          <a:xfrm>
            <a:off x="3241471" y="3458508"/>
            <a:ext cx="0" cy="1820866"/>
          </a:xfrm>
          <a:prstGeom prst="line">
            <a:avLst/>
          </a:prstGeom>
          <a:ln w="12700" cap="rnd">
            <a:solidFill>
              <a:srgbClr val="6070FF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1C2A95DF-AEE4-43CB-8D3A-495AA06D14D6}"/>
              </a:ext>
            </a:extLst>
          </p:cNvPr>
          <p:cNvGrpSpPr/>
          <p:nvPr/>
        </p:nvGrpSpPr>
        <p:grpSpPr>
          <a:xfrm>
            <a:off x="603999" y="3128020"/>
            <a:ext cx="2027034" cy="667761"/>
            <a:chOff x="2059423" y="1825407"/>
            <a:chExt cx="2031206" cy="667761"/>
          </a:xfrm>
        </p:grpSpPr>
        <p:sp>
          <p:nvSpPr>
            <p:cNvPr id="73" name="Rectangle: Rounded Corners 1">
              <a:extLst>
                <a:ext uri="{FF2B5EF4-FFF2-40B4-BE49-F238E27FC236}">
                  <a16:creationId xmlns:a16="http://schemas.microsoft.com/office/drawing/2014/main" id="{D7BA0C16-FC4E-41D0-A1A3-91B57DC1F51E}"/>
                </a:ext>
              </a:extLst>
            </p:cNvPr>
            <p:cNvSpPr/>
            <p:nvPr/>
          </p:nvSpPr>
          <p:spPr>
            <a:xfrm>
              <a:off x="2059423" y="1825407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TextBox 5">
              <a:extLst>
                <a:ext uri="{FF2B5EF4-FFF2-40B4-BE49-F238E27FC236}">
                  <a16:creationId xmlns:a16="http://schemas.microsoft.com/office/drawing/2014/main" id="{E002A08D-E8A8-44FC-A668-F7AE5CD48365}"/>
                </a:ext>
              </a:extLst>
            </p:cNvPr>
            <p:cNvSpPr txBox="1"/>
            <p:nvPr/>
          </p:nvSpPr>
          <p:spPr>
            <a:xfrm>
              <a:off x="2126995" y="1906809"/>
              <a:ext cx="190629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228554"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Loss 02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3BC8F1"/>
                  </a:solidFill>
                  <a:latin typeface="Century Gothic"/>
                </a:rPr>
                <a:t>Mean squared error</a:t>
              </a:r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9B3F9BC6-E0DB-4262-9783-64F019841026}"/>
              </a:ext>
            </a:extLst>
          </p:cNvPr>
          <p:cNvGrpSpPr/>
          <p:nvPr/>
        </p:nvGrpSpPr>
        <p:grpSpPr>
          <a:xfrm>
            <a:off x="3461736" y="4098886"/>
            <a:ext cx="2031206" cy="681824"/>
            <a:chOff x="5075094" y="2664783"/>
            <a:chExt cx="2031206" cy="681824"/>
          </a:xfrm>
        </p:grpSpPr>
        <p:sp>
          <p:nvSpPr>
            <p:cNvPr id="93" name="Rectangle: Rounded Corners 1">
              <a:extLst>
                <a:ext uri="{FF2B5EF4-FFF2-40B4-BE49-F238E27FC236}">
                  <a16:creationId xmlns:a16="http://schemas.microsoft.com/office/drawing/2014/main" id="{27D4F667-6B9B-471F-90B5-AE670AC83598}"/>
                </a:ext>
              </a:extLst>
            </p:cNvPr>
            <p:cNvSpPr/>
            <p:nvPr/>
          </p:nvSpPr>
          <p:spPr>
            <a:xfrm>
              <a:off x="5075094" y="2678846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7" name="TextBox 35">
              <a:extLst>
                <a:ext uri="{FF2B5EF4-FFF2-40B4-BE49-F238E27FC236}">
                  <a16:creationId xmlns:a16="http://schemas.microsoft.com/office/drawing/2014/main" id="{2CAB11B7-8DA0-4326-9D36-9A7ABAC7DEF6}"/>
                </a:ext>
              </a:extLst>
            </p:cNvPr>
            <p:cNvSpPr txBox="1"/>
            <p:nvPr/>
          </p:nvSpPr>
          <p:spPr>
            <a:xfrm>
              <a:off x="5274790" y="2664783"/>
              <a:ext cx="1726739" cy="63094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lnSpc>
                  <a:spcPct val="150000"/>
                </a:lnSpc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Option 01</a:t>
              </a:r>
            </a:p>
            <a:p>
              <a:pPr defTabSz="228554">
                <a:defRPr/>
              </a:pPr>
              <a:r>
                <a:rPr lang="en-US" altLang="zh-CN" sz="1400" b="1" dirty="0" err="1">
                  <a:solidFill>
                    <a:srgbClr val="FA3585"/>
                  </a:solidFill>
                  <a:latin typeface="Calibri"/>
                </a:rPr>
                <a:t>XGBoost</a:t>
              </a:r>
              <a:r>
                <a:rPr lang="en-US" altLang="zh-CN" sz="1200" dirty="0">
                  <a:solidFill>
                    <a:srgbClr val="FA3585"/>
                  </a:solidFill>
                  <a:latin typeface="Century Gothic"/>
                </a:rPr>
                <a:t> </a:t>
              </a:r>
              <a:endParaRPr lang="en-US" sz="1200" dirty="0">
                <a:solidFill>
                  <a:srgbClr val="FA3585"/>
                </a:solidFill>
                <a:latin typeface="Century Gothic"/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22668A9C-129A-46E8-A897-F63D1066FB26}"/>
              </a:ext>
            </a:extLst>
          </p:cNvPr>
          <p:cNvGrpSpPr/>
          <p:nvPr/>
        </p:nvGrpSpPr>
        <p:grpSpPr>
          <a:xfrm>
            <a:off x="3460551" y="3126472"/>
            <a:ext cx="2031206" cy="667761"/>
            <a:chOff x="5075094" y="1825407"/>
            <a:chExt cx="2031206" cy="667761"/>
          </a:xfrm>
        </p:grpSpPr>
        <p:sp>
          <p:nvSpPr>
            <p:cNvPr id="87" name="Rectangle: Rounded Corners 1">
              <a:extLst>
                <a:ext uri="{FF2B5EF4-FFF2-40B4-BE49-F238E27FC236}">
                  <a16:creationId xmlns:a16="http://schemas.microsoft.com/office/drawing/2014/main" id="{E29A05D5-0765-4381-9E98-9FD6131C8BFE}"/>
                </a:ext>
              </a:extLst>
            </p:cNvPr>
            <p:cNvSpPr/>
            <p:nvPr/>
          </p:nvSpPr>
          <p:spPr>
            <a:xfrm>
              <a:off x="5075094" y="1825407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8" name="TextBox 39">
              <a:extLst>
                <a:ext uri="{FF2B5EF4-FFF2-40B4-BE49-F238E27FC236}">
                  <a16:creationId xmlns:a16="http://schemas.microsoft.com/office/drawing/2014/main" id="{78CE515F-60C8-46B0-8983-B15ACAAC1671}"/>
                </a:ext>
              </a:extLst>
            </p:cNvPr>
            <p:cNvSpPr txBox="1"/>
            <p:nvPr/>
          </p:nvSpPr>
          <p:spPr>
            <a:xfrm>
              <a:off x="5274790" y="1895833"/>
              <a:ext cx="172996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228554">
                <a:defRPr/>
              </a:pPr>
              <a:r>
                <a:rPr lang="en-US" altLang="zh-CN" sz="1400" b="1" dirty="0">
                  <a:solidFill>
                    <a:srgbClr val="172144"/>
                  </a:solidFill>
                  <a:latin typeface="Century Gothic"/>
                </a:rPr>
                <a:t>Model 01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3BC8F1"/>
                  </a:solidFill>
                  <a:latin typeface="Century Gothic"/>
                </a:rPr>
                <a:t>Boosting methods</a:t>
              </a: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A985FA85-99A5-42BC-895F-0FEABA8599DD}"/>
              </a:ext>
            </a:extLst>
          </p:cNvPr>
          <p:cNvGrpSpPr/>
          <p:nvPr/>
        </p:nvGrpSpPr>
        <p:grpSpPr>
          <a:xfrm>
            <a:off x="3461736" y="4917686"/>
            <a:ext cx="2031206" cy="695570"/>
            <a:chOff x="5075094" y="3483583"/>
            <a:chExt cx="2031206" cy="695570"/>
          </a:xfrm>
        </p:grpSpPr>
        <p:sp>
          <p:nvSpPr>
            <p:cNvPr id="94" name="Rectangle: Rounded Corners 1">
              <a:extLst>
                <a:ext uri="{FF2B5EF4-FFF2-40B4-BE49-F238E27FC236}">
                  <a16:creationId xmlns:a16="http://schemas.microsoft.com/office/drawing/2014/main" id="{851BEEFC-7F5E-4383-B4C8-6E8A255296C8}"/>
                </a:ext>
              </a:extLst>
            </p:cNvPr>
            <p:cNvSpPr/>
            <p:nvPr/>
          </p:nvSpPr>
          <p:spPr>
            <a:xfrm>
              <a:off x="5075094" y="3511392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9" name="TextBox 62">
              <a:extLst>
                <a:ext uri="{FF2B5EF4-FFF2-40B4-BE49-F238E27FC236}">
                  <a16:creationId xmlns:a16="http://schemas.microsoft.com/office/drawing/2014/main" id="{3D2B6537-E8FC-4962-A943-ED2B674AAAB8}"/>
                </a:ext>
              </a:extLst>
            </p:cNvPr>
            <p:cNvSpPr txBox="1"/>
            <p:nvPr/>
          </p:nvSpPr>
          <p:spPr>
            <a:xfrm>
              <a:off x="5274790" y="3483583"/>
              <a:ext cx="1726739" cy="63094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lnSpc>
                  <a:spcPct val="150000"/>
                </a:lnSpc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Option 02</a:t>
              </a:r>
            </a:p>
            <a:p>
              <a:pPr defTabSz="228554">
                <a:defRPr/>
              </a:pPr>
              <a:r>
                <a:rPr lang="en-US" altLang="zh-CN" sz="1400" b="1" dirty="0" err="1">
                  <a:solidFill>
                    <a:srgbClr val="FA3585"/>
                  </a:solidFill>
                  <a:latin typeface="Calibri"/>
                </a:rPr>
                <a:t>LightGBM</a:t>
              </a:r>
              <a:endParaRPr lang="en-US" altLang="zh-CN" sz="1400" b="1" dirty="0">
                <a:solidFill>
                  <a:srgbClr val="FA3585"/>
                </a:solidFill>
                <a:latin typeface="Calibri"/>
              </a:endParaRPr>
            </a:p>
          </p:txBody>
        </p:sp>
      </p:grpSp>
      <p:sp>
        <p:nvSpPr>
          <p:cNvPr id="163" name="TextBox 86">
            <a:extLst>
              <a:ext uri="{FF2B5EF4-FFF2-40B4-BE49-F238E27FC236}">
                <a16:creationId xmlns:a16="http://schemas.microsoft.com/office/drawing/2014/main" id="{F8DDE34E-FC4F-4177-8FF2-621D9A46798A}"/>
              </a:ext>
            </a:extLst>
          </p:cNvPr>
          <p:cNvSpPr txBox="1"/>
          <p:nvPr/>
        </p:nvSpPr>
        <p:spPr>
          <a:xfrm>
            <a:off x="6388171" y="1176360"/>
            <a:ext cx="342273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defTabSz="228554">
              <a:defRPr/>
            </a:pPr>
            <a:r>
              <a:rPr lang="en-US" b="1" dirty="0">
                <a:solidFill>
                  <a:srgbClr val="172144"/>
                </a:solidFill>
                <a:latin typeface="Century Gothic"/>
              </a:rPr>
              <a:t>Part 3</a:t>
            </a:r>
          </a:p>
          <a:p>
            <a:pPr defTabSz="228554">
              <a:defRPr/>
            </a:pPr>
            <a:r>
              <a:rPr lang="en-US" b="1" dirty="0">
                <a:solidFill>
                  <a:srgbClr val="6070FF"/>
                </a:solidFill>
                <a:latin typeface="Century Gothic"/>
              </a:rPr>
              <a:t>Data Characteristics Analysis</a:t>
            </a:r>
          </a:p>
        </p:txBody>
      </p:sp>
      <p:sp>
        <p:nvSpPr>
          <p:cNvPr id="164" name="TextBox 31">
            <a:extLst>
              <a:ext uri="{FF2B5EF4-FFF2-40B4-BE49-F238E27FC236}">
                <a16:creationId xmlns:a16="http://schemas.microsoft.com/office/drawing/2014/main" id="{251AEA26-D931-435D-B162-89BBCE6DF242}"/>
              </a:ext>
            </a:extLst>
          </p:cNvPr>
          <p:cNvSpPr txBox="1"/>
          <p:nvPr/>
        </p:nvSpPr>
        <p:spPr>
          <a:xfrm>
            <a:off x="447504" y="1194771"/>
            <a:ext cx="170751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defTabSz="228554">
              <a:defRPr/>
            </a:pPr>
            <a:r>
              <a:rPr lang="en-US" b="1" dirty="0">
                <a:solidFill>
                  <a:srgbClr val="172144"/>
                </a:solidFill>
                <a:latin typeface="Century Gothic"/>
              </a:rPr>
              <a:t>Part 1</a:t>
            </a:r>
          </a:p>
          <a:p>
            <a:pPr defTabSz="228554">
              <a:defRPr/>
            </a:pPr>
            <a:r>
              <a:rPr lang="en-US" b="1" dirty="0">
                <a:solidFill>
                  <a:srgbClr val="6070FF"/>
                </a:solidFill>
                <a:latin typeface="Century Gothic"/>
              </a:rPr>
              <a:t>Loss Function </a:t>
            </a:r>
          </a:p>
        </p:txBody>
      </p:sp>
      <p:sp>
        <p:nvSpPr>
          <p:cNvPr id="165" name="TextBox 42">
            <a:extLst>
              <a:ext uri="{FF2B5EF4-FFF2-40B4-BE49-F238E27FC236}">
                <a16:creationId xmlns:a16="http://schemas.microsoft.com/office/drawing/2014/main" id="{AC09998B-6C3D-45F7-A634-03C6CB09E737}"/>
              </a:ext>
            </a:extLst>
          </p:cNvPr>
          <p:cNvSpPr txBox="1"/>
          <p:nvPr/>
        </p:nvSpPr>
        <p:spPr>
          <a:xfrm>
            <a:off x="3462460" y="1194771"/>
            <a:ext cx="2024913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defTabSz="228554">
              <a:defRPr/>
            </a:pPr>
            <a:r>
              <a:rPr lang="en-US" b="1" dirty="0">
                <a:solidFill>
                  <a:srgbClr val="172144"/>
                </a:solidFill>
                <a:latin typeface="Century Gothic"/>
              </a:rPr>
              <a:t>Part 2</a:t>
            </a:r>
          </a:p>
          <a:p>
            <a:pPr defTabSz="228554">
              <a:defRPr/>
            </a:pPr>
            <a:r>
              <a:rPr lang="en-US" b="1" dirty="0">
                <a:solidFill>
                  <a:srgbClr val="6070FF"/>
                </a:solidFill>
                <a:latin typeface="Century Gothic"/>
              </a:rPr>
              <a:t>Base Framework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5483BB1C-CE6F-4D7F-8A17-C382A0098AF3}"/>
              </a:ext>
            </a:extLst>
          </p:cNvPr>
          <p:cNvCxnSpPr>
            <a:cxnSpLocks/>
            <a:stCxn id="73" idx="3"/>
            <a:endCxn id="87" idx="1"/>
          </p:cNvCxnSpPr>
          <p:nvPr/>
        </p:nvCxnSpPr>
        <p:spPr>
          <a:xfrm flipV="1">
            <a:off x="2631033" y="3460353"/>
            <a:ext cx="829518" cy="1548"/>
          </a:xfrm>
          <a:prstGeom prst="line">
            <a:avLst/>
          </a:prstGeom>
          <a:ln w="12700" cap="rnd">
            <a:solidFill>
              <a:srgbClr val="6070FF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F4EC0A5A-96A0-4370-A13E-84C3C672024A}"/>
              </a:ext>
            </a:extLst>
          </p:cNvPr>
          <p:cNvCxnSpPr>
            <a:cxnSpLocks/>
          </p:cNvCxnSpPr>
          <p:nvPr/>
        </p:nvCxnSpPr>
        <p:spPr>
          <a:xfrm>
            <a:off x="3241471" y="4446829"/>
            <a:ext cx="219550" cy="0"/>
          </a:xfrm>
          <a:prstGeom prst="line">
            <a:avLst/>
          </a:prstGeom>
          <a:ln w="12700" cap="rnd">
            <a:solidFill>
              <a:srgbClr val="6070FF"/>
            </a:solidFill>
            <a:headEnd type="non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896903C5-E9BF-429A-BA4E-DE659D501EC0}"/>
              </a:ext>
            </a:extLst>
          </p:cNvPr>
          <p:cNvCxnSpPr>
            <a:cxnSpLocks/>
          </p:cNvCxnSpPr>
          <p:nvPr/>
        </p:nvCxnSpPr>
        <p:spPr>
          <a:xfrm>
            <a:off x="3241471" y="5279375"/>
            <a:ext cx="219550" cy="0"/>
          </a:xfrm>
          <a:prstGeom prst="line">
            <a:avLst/>
          </a:prstGeom>
          <a:ln w="12700" cap="rnd">
            <a:solidFill>
              <a:srgbClr val="6070FF"/>
            </a:solidFill>
            <a:headEnd type="non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FF8BA17-042F-40B1-B698-9C226626FFF1}"/>
              </a:ext>
            </a:extLst>
          </p:cNvPr>
          <p:cNvCxnSpPr>
            <a:cxnSpLocks/>
          </p:cNvCxnSpPr>
          <p:nvPr/>
        </p:nvCxnSpPr>
        <p:spPr>
          <a:xfrm>
            <a:off x="6268796" y="2112220"/>
            <a:ext cx="0" cy="2516295"/>
          </a:xfrm>
          <a:prstGeom prst="line">
            <a:avLst/>
          </a:prstGeom>
          <a:ln w="12700" cap="rnd">
            <a:solidFill>
              <a:srgbClr val="6070FF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BF62C94-43AF-4DBF-8419-CB6C952D316F}"/>
              </a:ext>
            </a:extLst>
          </p:cNvPr>
          <p:cNvCxnSpPr>
            <a:cxnSpLocks/>
          </p:cNvCxnSpPr>
          <p:nvPr/>
        </p:nvCxnSpPr>
        <p:spPr>
          <a:xfrm>
            <a:off x="6268796" y="4628516"/>
            <a:ext cx="219550" cy="0"/>
          </a:xfrm>
          <a:prstGeom prst="line">
            <a:avLst/>
          </a:prstGeom>
          <a:ln w="12700" cap="rnd">
            <a:solidFill>
              <a:srgbClr val="6070FF"/>
            </a:solidFill>
            <a:headEnd type="non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FBC14A2C-24E1-4FA1-9B7B-1047DC5D0A59}"/>
              </a:ext>
            </a:extLst>
          </p:cNvPr>
          <p:cNvGrpSpPr/>
          <p:nvPr/>
        </p:nvGrpSpPr>
        <p:grpSpPr>
          <a:xfrm>
            <a:off x="6489452" y="1778340"/>
            <a:ext cx="2031206" cy="667761"/>
            <a:chOff x="8101371" y="1825407"/>
            <a:chExt cx="2031206" cy="667761"/>
          </a:xfrm>
        </p:grpSpPr>
        <p:sp>
          <p:nvSpPr>
            <p:cNvPr id="88" name="Rectangle: Rounded Corners 1">
              <a:extLst>
                <a:ext uri="{FF2B5EF4-FFF2-40B4-BE49-F238E27FC236}">
                  <a16:creationId xmlns:a16="http://schemas.microsoft.com/office/drawing/2014/main" id="{BF901AE6-EA0F-452C-A95D-D1A068CD14C4}"/>
                </a:ext>
              </a:extLst>
            </p:cNvPr>
            <p:cNvSpPr/>
            <p:nvPr/>
          </p:nvSpPr>
          <p:spPr>
            <a:xfrm>
              <a:off x="8101371" y="1825407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0" name="TextBox 85">
              <a:extLst>
                <a:ext uri="{FF2B5EF4-FFF2-40B4-BE49-F238E27FC236}">
                  <a16:creationId xmlns:a16="http://schemas.microsoft.com/office/drawing/2014/main" id="{A22CA401-F0BE-47E5-A261-3E6F02AF0604}"/>
                </a:ext>
              </a:extLst>
            </p:cNvPr>
            <p:cNvSpPr txBox="1"/>
            <p:nvPr/>
          </p:nvSpPr>
          <p:spPr>
            <a:xfrm>
              <a:off x="8181958" y="1905336"/>
              <a:ext cx="1925527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228554">
                <a:defRPr/>
              </a:pPr>
              <a:r>
                <a:rPr lang="en-US" altLang="zh-CN" sz="1400" b="1" dirty="0">
                  <a:solidFill>
                    <a:srgbClr val="172144"/>
                  </a:solidFill>
                  <a:latin typeface="Century Gothic"/>
                </a:rPr>
                <a:t>Model 02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3BC8F1"/>
                  </a:solidFill>
                  <a:latin typeface="Century Gothic"/>
                </a:rPr>
                <a:t>Hierarchical Models</a:t>
              </a:r>
            </a:p>
          </p:txBody>
        </p:sp>
      </p:grp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4C5E401B-6A37-4F39-8E42-196971CBBA38}"/>
              </a:ext>
            </a:extLst>
          </p:cNvPr>
          <p:cNvCxnSpPr>
            <a:cxnSpLocks/>
            <a:stCxn id="87" idx="3"/>
          </p:cNvCxnSpPr>
          <p:nvPr/>
        </p:nvCxnSpPr>
        <p:spPr>
          <a:xfrm flipV="1">
            <a:off x="5491757" y="3458508"/>
            <a:ext cx="780219" cy="1845"/>
          </a:xfrm>
          <a:prstGeom prst="line">
            <a:avLst/>
          </a:prstGeom>
          <a:ln w="12700" cap="rnd">
            <a:solidFill>
              <a:srgbClr val="6070FF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32">
            <a:extLst>
              <a:ext uri="{FF2B5EF4-FFF2-40B4-BE49-F238E27FC236}">
                <a16:creationId xmlns:a16="http://schemas.microsoft.com/office/drawing/2014/main" id="{1C92DD60-A8D4-0977-3C4A-00EA0CA231DA}"/>
              </a:ext>
            </a:extLst>
          </p:cNvPr>
          <p:cNvSpPr txBox="1">
            <a:spLocks/>
          </p:cNvSpPr>
          <p:nvPr/>
        </p:nvSpPr>
        <p:spPr>
          <a:xfrm>
            <a:off x="-250946" y="-146941"/>
            <a:ext cx="5150205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odel Selection</a:t>
            </a:r>
            <a:endParaRPr lang="en-US" sz="3600" b="1" spc="-1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26EBBD6F-2814-60B2-561E-BEFE25DF846E}"/>
              </a:ext>
            </a:extLst>
          </p:cNvPr>
          <p:cNvGrpSpPr/>
          <p:nvPr/>
        </p:nvGrpSpPr>
        <p:grpSpPr>
          <a:xfrm>
            <a:off x="9545250" y="3325938"/>
            <a:ext cx="2031206" cy="686044"/>
            <a:chOff x="8101371" y="3493108"/>
            <a:chExt cx="2031206" cy="686044"/>
          </a:xfrm>
        </p:grpSpPr>
        <p:sp>
          <p:nvSpPr>
            <p:cNvPr id="81" name="Rectangle: Rounded Corners 1">
              <a:extLst>
                <a:ext uri="{FF2B5EF4-FFF2-40B4-BE49-F238E27FC236}">
                  <a16:creationId xmlns:a16="http://schemas.microsoft.com/office/drawing/2014/main" id="{8C2DA19F-7992-C7AB-F40F-75D2F10969EF}"/>
                </a:ext>
              </a:extLst>
            </p:cNvPr>
            <p:cNvSpPr/>
            <p:nvPr/>
          </p:nvSpPr>
          <p:spPr>
            <a:xfrm>
              <a:off x="8101371" y="3511391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TextBox 91">
              <a:extLst>
                <a:ext uri="{FF2B5EF4-FFF2-40B4-BE49-F238E27FC236}">
                  <a16:creationId xmlns:a16="http://schemas.microsoft.com/office/drawing/2014/main" id="{CF4DBDA9-CE3E-0DCC-0123-0DC082E5EB02}"/>
                </a:ext>
              </a:extLst>
            </p:cNvPr>
            <p:cNvSpPr txBox="1"/>
            <p:nvPr/>
          </p:nvSpPr>
          <p:spPr>
            <a:xfrm>
              <a:off x="8290522" y="3493108"/>
              <a:ext cx="1842053" cy="63094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lnSpc>
                  <a:spcPct val="150000"/>
                </a:lnSpc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Option 01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FA3585"/>
                  </a:solidFill>
                  <a:latin typeface="Calibri"/>
                </a:rPr>
                <a:t>Zero-Inflated Poisson</a:t>
              </a:r>
            </a:p>
          </p:txBody>
        </p:sp>
      </p:grp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2FF9C45-612E-B322-4E2F-2ED2CA36C934}"/>
              </a:ext>
            </a:extLst>
          </p:cNvPr>
          <p:cNvCxnSpPr>
            <a:cxnSpLocks/>
          </p:cNvCxnSpPr>
          <p:nvPr/>
        </p:nvCxnSpPr>
        <p:spPr>
          <a:xfrm>
            <a:off x="9335253" y="3678101"/>
            <a:ext cx="0" cy="1935155"/>
          </a:xfrm>
          <a:prstGeom prst="line">
            <a:avLst/>
          </a:prstGeom>
          <a:ln w="12700" cap="rnd">
            <a:solidFill>
              <a:srgbClr val="6070FF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40FE8674-7D26-0110-BE3D-A3028BCC5824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9335253" y="3678102"/>
            <a:ext cx="209997" cy="0"/>
          </a:xfrm>
          <a:prstGeom prst="line">
            <a:avLst/>
          </a:prstGeom>
          <a:ln w="12700" cap="rnd">
            <a:solidFill>
              <a:srgbClr val="6070FF"/>
            </a:solidFill>
            <a:headEnd type="non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F2C877E7-75FC-C3F2-591A-67C843FE3F60}"/>
              </a:ext>
            </a:extLst>
          </p:cNvPr>
          <p:cNvGrpSpPr/>
          <p:nvPr/>
        </p:nvGrpSpPr>
        <p:grpSpPr>
          <a:xfrm>
            <a:off x="6526369" y="4303387"/>
            <a:ext cx="2031206" cy="667761"/>
            <a:chOff x="8101371" y="1825407"/>
            <a:chExt cx="2031206" cy="667761"/>
          </a:xfrm>
        </p:grpSpPr>
        <p:sp>
          <p:nvSpPr>
            <p:cNvPr id="116" name="Rectangle: Rounded Corners 1">
              <a:extLst>
                <a:ext uri="{FF2B5EF4-FFF2-40B4-BE49-F238E27FC236}">
                  <a16:creationId xmlns:a16="http://schemas.microsoft.com/office/drawing/2014/main" id="{E6A4E07C-3F4C-69FC-2553-9A56DECFAF9E}"/>
                </a:ext>
              </a:extLst>
            </p:cNvPr>
            <p:cNvSpPr/>
            <p:nvPr/>
          </p:nvSpPr>
          <p:spPr>
            <a:xfrm>
              <a:off x="8101371" y="1825407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7" name="TextBox 85">
              <a:extLst>
                <a:ext uri="{FF2B5EF4-FFF2-40B4-BE49-F238E27FC236}">
                  <a16:creationId xmlns:a16="http://schemas.microsoft.com/office/drawing/2014/main" id="{97F13632-FCB3-499A-C166-87D30AA21129}"/>
                </a:ext>
              </a:extLst>
            </p:cNvPr>
            <p:cNvSpPr txBox="1"/>
            <p:nvPr/>
          </p:nvSpPr>
          <p:spPr>
            <a:xfrm>
              <a:off x="8119333" y="1882700"/>
              <a:ext cx="1978427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228554">
                <a:defRPr/>
              </a:pPr>
              <a:r>
                <a:rPr lang="en-US" altLang="zh-CN" sz="1400" b="1" dirty="0">
                  <a:solidFill>
                    <a:srgbClr val="172144"/>
                  </a:solidFill>
                  <a:latin typeface="Century Gothic"/>
                </a:rPr>
                <a:t>Model 03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3BC8F1"/>
                  </a:solidFill>
                  <a:latin typeface="Century Gothic"/>
                </a:rPr>
                <a:t>Zero-Inflated Models</a:t>
              </a:r>
            </a:p>
          </p:txBody>
        </p:sp>
      </p:grpSp>
      <p:sp>
        <p:nvSpPr>
          <p:cNvPr id="122" name="Rectangle: Rounded Corners 1">
            <a:extLst>
              <a:ext uri="{FF2B5EF4-FFF2-40B4-BE49-F238E27FC236}">
                <a16:creationId xmlns:a16="http://schemas.microsoft.com/office/drawing/2014/main" id="{D71D1574-F6C2-21E3-2AFC-8A431E4B6BA9}"/>
              </a:ext>
            </a:extLst>
          </p:cNvPr>
          <p:cNvSpPr/>
          <p:nvPr/>
        </p:nvSpPr>
        <p:spPr>
          <a:xfrm>
            <a:off x="9545250" y="1787958"/>
            <a:ext cx="2031206" cy="667761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>
            <a:noFill/>
          </a:ln>
          <a:effectLst>
            <a:outerShdw blurRad="317500" dist="177800" dir="3000000" algn="tl" rotWithShape="0">
              <a:srgbClr val="0FA6D2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8FCDB1DF-9F16-5EFA-1CCE-A07DD24D68AC}"/>
              </a:ext>
            </a:extLst>
          </p:cNvPr>
          <p:cNvCxnSpPr>
            <a:cxnSpLocks/>
            <a:stCxn id="88" idx="3"/>
            <a:endCxn id="122" idx="1"/>
          </p:cNvCxnSpPr>
          <p:nvPr/>
        </p:nvCxnSpPr>
        <p:spPr>
          <a:xfrm>
            <a:off x="8520658" y="2112221"/>
            <a:ext cx="1024592" cy="9618"/>
          </a:xfrm>
          <a:prstGeom prst="line">
            <a:avLst/>
          </a:prstGeom>
          <a:ln w="12700" cap="rnd">
            <a:solidFill>
              <a:srgbClr val="6070FF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8D2A3ADD-3189-2CCC-7315-B5FB6CF99FB6}"/>
              </a:ext>
            </a:extLst>
          </p:cNvPr>
          <p:cNvGrpSpPr/>
          <p:nvPr/>
        </p:nvGrpSpPr>
        <p:grpSpPr>
          <a:xfrm>
            <a:off x="599827" y="1922504"/>
            <a:ext cx="2031206" cy="667761"/>
            <a:chOff x="2059423" y="1825407"/>
            <a:chExt cx="2031206" cy="667761"/>
          </a:xfrm>
        </p:grpSpPr>
        <p:sp>
          <p:nvSpPr>
            <p:cNvPr id="134" name="Rectangle: Rounded Corners 1">
              <a:extLst>
                <a:ext uri="{FF2B5EF4-FFF2-40B4-BE49-F238E27FC236}">
                  <a16:creationId xmlns:a16="http://schemas.microsoft.com/office/drawing/2014/main" id="{75FA3708-A8CD-0FDE-6DC3-B076121BFA58}"/>
                </a:ext>
              </a:extLst>
            </p:cNvPr>
            <p:cNvSpPr/>
            <p:nvPr/>
          </p:nvSpPr>
          <p:spPr>
            <a:xfrm>
              <a:off x="2059423" y="1825407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8" name="TextBox 5">
              <a:extLst>
                <a:ext uri="{FF2B5EF4-FFF2-40B4-BE49-F238E27FC236}">
                  <a16:creationId xmlns:a16="http://schemas.microsoft.com/office/drawing/2014/main" id="{9ADF7EB7-9A2F-1639-BF3B-E9ABE62AFE36}"/>
                </a:ext>
              </a:extLst>
            </p:cNvPr>
            <p:cNvSpPr txBox="1"/>
            <p:nvPr/>
          </p:nvSpPr>
          <p:spPr>
            <a:xfrm>
              <a:off x="2131360" y="1896263"/>
              <a:ext cx="195919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228554"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Loss 01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3BC8F1"/>
                  </a:solidFill>
                  <a:latin typeface="Century Gothic"/>
                </a:rPr>
                <a:t>Pairwise ranking loss</a:t>
              </a:r>
            </a:p>
          </p:txBody>
        </p:sp>
      </p:grp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9D33E67F-7740-3A38-0EBE-AEEA8DD1AE00}"/>
              </a:ext>
            </a:extLst>
          </p:cNvPr>
          <p:cNvCxnSpPr>
            <a:cxnSpLocks/>
          </p:cNvCxnSpPr>
          <p:nvPr/>
        </p:nvCxnSpPr>
        <p:spPr>
          <a:xfrm>
            <a:off x="6265617" y="2112220"/>
            <a:ext cx="219550" cy="0"/>
          </a:xfrm>
          <a:prstGeom prst="line">
            <a:avLst/>
          </a:prstGeom>
          <a:ln w="12700" cap="rnd">
            <a:solidFill>
              <a:srgbClr val="6070FF"/>
            </a:solidFill>
            <a:headEnd type="non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BF14607E-34B6-B543-ED2E-F98236CF0F05}"/>
              </a:ext>
            </a:extLst>
          </p:cNvPr>
          <p:cNvCxnSpPr>
            <a:cxnSpLocks/>
            <a:stCxn id="134" idx="2"/>
            <a:endCxn id="73" idx="0"/>
          </p:cNvCxnSpPr>
          <p:nvPr/>
        </p:nvCxnSpPr>
        <p:spPr>
          <a:xfrm>
            <a:off x="1615430" y="2590265"/>
            <a:ext cx="2086" cy="537755"/>
          </a:xfrm>
          <a:prstGeom prst="line">
            <a:avLst/>
          </a:prstGeom>
          <a:ln w="12700" cap="rnd">
            <a:solidFill>
              <a:srgbClr val="6070FF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AEB8B4B1-44BD-DE41-97C4-1A26F8E14549}"/>
              </a:ext>
            </a:extLst>
          </p:cNvPr>
          <p:cNvGrpSpPr/>
          <p:nvPr/>
        </p:nvGrpSpPr>
        <p:grpSpPr>
          <a:xfrm>
            <a:off x="9558008" y="4177382"/>
            <a:ext cx="2031206" cy="846386"/>
            <a:chOff x="8101371" y="3385386"/>
            <a:chExt cx="2031206" cy="846386"/>
          </a:xfrm>
        </p:grpSpPr>
        <p:sp>
          <p:nvSpPr>
            <p:cNvPr id="213" name="Rectangle: Rounded Corners 1">
              <a:extLst>
                <a:ext uri="{FF2B5EF4-FFF2-40B4-BE49-F238E27FC236}">
                  <a16:creationId xmlns:a16="http://schemas.microsoft.com/office/drawing/2014/main" id="{6FE8A868-14DB-67DC-E19E-C20E227D1F16}"/>
                </a:ext>
              </a:extLst>
            </p:cNvPr>
            <p:cNvSpPr/>
            <p:nvPr/>
          </p:nvSpPr>
          <p:spPr>
            <a:xfrm>
              <a:off x="8101371" y="3511391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4" name="TextBox 91">
              <a:extLst>
                <a:ext uri="{FF2B5EF4-FFF2-40B4-BE49-F238E27FC236}">
                  <a16:creationId xmlns:a16="http://schemas.microsoft.com/office/drawing/2014/main" id="{E3759412-E8D2-EF78-94DC-61F30E187C9D}"/>
                </a:ext>
              </a:extLst>
            </p:cNvPr>
            <p:cNvSpPr txBox="1"/>
            <p:nvPr/>
          </p:nvSpPr>
          <p:spPr>
            <a:xfrm>
              <a:off x="8290522" y="3385386"/>
              <a:ext cx="1726739" cy="8463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lnSpc>
                  <a:spcPct val="150000"/>
                </a:lnSpc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Option 02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FA3585"/>
                  </a:solidFill>
                  <a:latin typeface="Calibri"/>
                </a:rPr>
                <a:t>Zero-Inflated 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FA3585"/>
                  </a:solidFill>
                  <a:latin typeface="Calibri"/>
                </a:rPr>
                <a:t>Negative Binomial</a:t>
              </a:r>
            </a:p>
          </p:txBody>
        </p:sp>
      </p:grpSp>
      <p:sp>
        <p:nvSpPr>
          <p:cNvPr id="201" name="TextBox 91">
            <a:extLst>
              <a:ext uri="{FF2B5EF4-FFF2-40B4-BE49-F238E27FC236}">
                <a16:creationId xmlns:a16="http://schemas.microsoft.com/office/drawing/2014/main" id="{FBCEC245-FA60-184A-5C9D-94F1EE310BA7}"/>
              </a:ext>
            </a:extLst>
          </p:cNvPr>
          <p:cNvSpPr txBox="1"/>
          <p:nvPr/>
        </p:nvSpPr>
        <p:spPr>
          <a:xfrm>
            <a:off x="9650992" y="1804408"/>
            <a:ext cx="1726739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228554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172144"/>
                </a:solidFill>
                <a:latin typeface="Century Gothic"/>
              </a:rPr>
              <a:t>Option 01</a:t>
            </a:r>
          </a:p>
          <a:p>
            <a:pPr defTabSz="228554">
              <a:defRPr/>
            </a:pPr>
            <a:r>
              <a:rPr lang="en-US" altLang="zh-CN" sz="1400" b="1" dirty="0">
                <a:solidFill>
                  <a:srgbClr val="FA3585"/>
                </a:solidFill>
                <a:latin typeface="Calibri"/>
              </a:rPr>
              <a:t>GOSDT</a:t>
            </a:r>
          </a:p>
        </p:txBody>
      </p: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77B82D2E-CFEC-904B-B5DC-2FE10B6AE68C}"/>
              </a:ext>
            </a:extLst>
          </p:cNvPr>
          <p:cNvGrpSpPr/>
          <p:nvPr/>
        </p:nvGrpSpPr>
        <p:grpSpPr>
          <a:xfrm>
            <a:off x="9574549" y="5261569"/>
            <a:ext cx="2117917" cy="686044"/>
            <a:chOff x="8101371" y="3493108"/>
            <a:chExt cx="2117917" cy="686044"/>
          </a:xfrm>
        </p:grpSpPr>
        <p:sp>
          <p:nvSpPr>
            <p:cNvPr id="216" name="Rectangle: Rounded Corners 1">
              <a:extLst>
                <a:ext uri="{FF2B5EF4-FFF2-40B4-BE49-F238E27FC236}">
                  <a16:creationId xmlns:a16="http://schemas.microsoft.com/office/drawing/2014/main" id="{8D4EAC32-EE18-7BCA-C5AC-15841C8ED8AB}"/>
                </a:ext>
              </a:extLst>
            </p:cNvPr>
            <p:cNvSpPr/>
            <p:nvPr/>
          </p:nvSpPr>
          <p:spPr>
            <a:xfrm>
              <a:off x="8101371" y="3511391"/>
              <a:ext cx="2031206" cy="667761"/>
            </a:xfrm>
            <a:prstGeom prst="roundRect">
              <a:avLst>
                <a:gd name="adj" fmla="val 6861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77800" dir="3000000" algn="tl" rotWithShape="0">
                <a:srgbClr val="0FA6D2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7" name="TextBox 91">
              <a:extLst>
                <a:ext uri="{FF2B5EF4-FFF2-40B4-BE49-F238E27FC236}">
                  <a16:creationId xmlns:a16="http://schemas.microsoft.com/office/drawing/2014/main" id="{9E041721-814C-D93F-FF4D-3DF18E03CDB0}"/>
                </a:ext>
              </a:extLst>
            </p:cNvPr>
            <p:cNvSpPr txBox="1"/>
            <p:nvPr/>
          </p:nvSpPr>
          <p:spPr>
            <a:xfrm>
              <a:off x="8290522" y="3493108"/>
              <a:ext cx="1928766" cy="63094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lnSpc>
                  <a:spcPct val="150000"/>
                </a:lnSpc>
                <a:defRPr/>
              </a:pPr>
              <a:r>
                <a:rPr lang="en-US" sz="1400" b="1" dirty="0">
                  <a:solidFill>
                    <a:srgbClr val="172144"/>
                  </a:solidFill>
                  <a:latin typeface="Century Gothic"/>
                </a:rPr>
                <a:t>Option 03</a:t>
              </a:r>
            </a:p>
            <a:p>
              <a:pPr defTabSz="228554">
                <a:defRPr/>
              </a:pPr>
              <a:r>
                <a:rPr lang="en-US" altLang="zh-CN" sz="1400" b="1" dirty="0">
                  <a:solidFill>
                    <a:srgbClr val="FA3585"/>
                  </a:solidFill>
                  <a:latin typeface="Calibri"/>
                </a:rPr>
                <a:t>Zero-Inflated Tweedie</a:t>
              </a:r>
            </a:p>
          </p:txBody>
        </p:sp>
      </p:grp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00523AA-BFCD-66BF-B7B2-DE979FF1D521}"/>
              </a:ext>
            </a:extLst>
          </p:cNvPr>
          <p:cNvCxnSpPr>
            <a:cxnSpLocks/>
            <a:stCxn id="116" idx="3"/>
            <a:endCxn id="213" idx="1"/>
          </p:cNvCxnSpPr>
          <p:nvPr/>
        </p:nvCxnSpPr>
        <p:spPr>
          <a:xfrm>
            <a:off x="8557575" y="4637268"/>
            <a:ext cx="1000433" cy="0"/>
          </a:xfrm>
          <a:prstGeom prst="line">
            <a:avLst/>
          </a:prstGeom>
          <a:ln w="12700" cap="rnd">
            <a:solidFill>
              <a:srgbClr val="6070FF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CDD2FD4C-9D61-8BBE-05E1-88DD725A1F0A}"/>
              </a:ext>
            </a:extLst>
          </p:cNvPr>
          <p:cNvCxnSpPr>
            <a:cxnSpLocks/>
            <a:endCxn id="216" idx="1"/>
          </p:cNvCxnSpPr>
          <p:nvPr/>
        </p:nvCxnSpPr>
        <p:spPr>
          <a:xfrm>
            <a:off x="9335253" y="5613256"/>
            <a:ext cx="239296" cy="477"/>
          </a:xfrm>
          <a:prstGeom prst="line">
            <a:avLst/>
          </a:prstGeom>
          <a:ln w="12700" cap="rnd">
            <a:solidFill>
              <a:srgbClr val="6070FF"/>
            </a:solidFill>
            <a:headEnd type="non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848634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0" dur="1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1" dur="1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4" dur="1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5" dur="1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" fill="hold">
                          <p:stCondLst>
                            <p:cond delay="indefinite"/>
                          </p:stCondLst>
                          <p:childTnLst>
                            <p:par>
                              <p:cTn id="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nodeType="withEffect" p14:presetBounceEnd="66667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23" dur="1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4" dur="1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nodeType="withEffect" p14:presetBounceEnd="66667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27" dur="1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8" dur="1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nodeType="withEffect" p14:presetBounceEnd="66667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1" dur="1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32" dur="1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1" fill="hold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5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9" dur="5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55" dur="150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56" dur="150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59" dur="1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60" dur="1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1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8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1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4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87" dur="1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8" dur="1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1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97" dur="1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98" dur="1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" presetClass="entr" presetSubtype="4" fill="hold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01" dur="1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02" dur="1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2" grpId="0" animBg="1"/>
          <p:bldP spid="20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" fill="hold">
                          <p:stCondLst>
                            <p:cond delay="indefinite"/>
                          </p:stCondLst>
                          <p:childTnLst>
                            <p:par>
                              <p:cTn id="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1" fill="hold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5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9" dur="5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50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50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5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1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8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1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4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1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1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1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1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1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1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2" dur="1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2" grpId="0" animBg="1"/>
          <p:bldP spid="201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object 32"/>
          <p:cNvSpPr txBox="1"/>
          <p:nvPr/>
        </p:nvSpPr>
        <p:spPr>
          <a:xfrm>
            <a:off x="-222071" y="648671"/>
            <a:ext cx="638792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indent="41909" algn="ctr">
              <a:spcBef>
                <a:spcPts val="100"/>
              </a:spcBef>
              <a:defRPr sz="3600" b="1" spc="-1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Zero-Inflated Models </a:t>
            </a:r>
          </a:p>
        </p:txBody>
      </p:sp>
      <p:pic>
        <p:nvPicPr>
          <p:cNvPr id="17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349" y="1477811"/>
            <a:ext cx="6307990" cy="38728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5" y="4035893"/>
            <a:ext cx="4934370" cy="147410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"/>
          <p:cNvSpPr txBox="1"/>
          <p:nvPr/>
        </p:nvSpPr>
        <p:spPr>
          <a:xfrm>
            <a:off x="5834305" y="3241849"/>
            <a:ext cx="523390" cy="370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endParaRPr/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0DE2378B-7662-9019-9096-36DF0CB5DA5C}"/>
              </a:ext>
            </a:extLst>
          </p:cNvPr>
          <p:cNvSpPr txBox="1"/>
          <p:nvPr/>
        </p:nvSpPr>
        <p:spPr>
          <a:xfrm>
            <a:off x="574035" y="1477811"/>
            <a:ext cx="5260270" cy="27174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220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Model excess zeros: </a:t>
            </a:r>
            <a:r>
              <a:rPr lang="en-US" sz="22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using a </a:t>
            </a:r>
            <a:r>
              <a:rPr lang="en-US" altLang="zh-CN" sz="22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logistic</a:t>
            </a:r>
            <a:r>
              <a:rPr lang="en-US" sz="22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distribution to forecast zero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sz="2200" spc="-25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220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Model counts : </a:t>
            </a:r>
            <a:r>
              <a:rPr lang="en-US" sz="22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using Poisson, Negative Binomial and Tweedie distribution to predict non-zero observations</a:t>
            </a: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r>
              <a:rPr lang="en-US" sz="2000" b="1" spc="-1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7727-3869-359E-917D-6E4CEADF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9BACF06A-90D2-3504-81EE-6E113C9C662A}"/>
              </a:ext>
            </a:extLst>
          </p:cNvPr>
          <p:cNvSpPr txBox="1"/>
          <p:nvPr/>
        </p:nvSpPr>
        <p:spPr>
          <a:xfrm>
            <a:off x="696277" y="2838492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000" b="1" spc="15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ZINB Fit vs Call Counts </a:t>
            </a: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B23181B8-C73F-1DDF-E667-A2D37EB454EB}"/>
              </a:ext>
            </a:extLst>
          </p:cNvPr>
          <p:cNvSpPr txBox="1">
            <a:spLocks/>
          </p:cNvSpPr>
          <p:nvPr/>
        </p:nvSpPr>
        <p:spPr>
          <a:xfrm>
            <a:off x="-222070" y="5556"/>
            <a:ext cx="8597720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Zero-Inflated Models Selection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FAEC098-47B2-2E47-9DCC-3596A1EC9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1364"/>
              </p:ext>
            </p:extLst>
          </p:nvPr>
        </p:nvGraphicFramePr>
        <p:xfrm>
          <a:off x="2032000" y="1767033"/>
          <a:ext cx="8127999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253390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596105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71564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Poisson AIC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Negative Binomial AIC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Tweedie AIC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4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1375599.11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391966.36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393634.87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563065"/>
                  </a:ext>
                </a:extLst>
              </a:tr>
            </a:tbl>
          </a:graphicData>
        </a:graphic>
      </p:graphicFrame>
      <p:sp>
        <p:nvSpPr>
          <p:cNvPr id="7" name="object 11">
            <a:extLst>
              <a:ext uri="{FF2B5EF4-FFF2-40B4-BE49-F238E27FC236}">
                <a16:creationId xmlns:a16="http://schemas.microsoft.com/office/drawing/2014/main" id="{13466D56-A015-8BDE-8890-E0541B7139F0}"/>
              </a:ext>
            </a:extLst>
          </p:cNvPr>
          <p:cNvSpPr txBox="1"/>
          <p:nvPr/>
        </p:nvSpPr>
        <p:spPr>
          <a:xfrm>
            <a:off x="696280" y="1297544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000" b="1" spc="155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AIC: the lower, the best</a:t>
            </a:r>
            <a:r>
              <a:rPr lang="en-US" altLang="zh-CN" sz="2000" b="1" spc="15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pic>
        <p:nvPicPr>
          <p:cNvPr id="4" name="Picture 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3AB9D093-260C-7968-F1B7-7EEF04964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367" y="3414921"/>
            <a:ext cx="5681912" cy="31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7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1C01-28D2-539E-0418-85BC56B6E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72D1B7A7-75BD-2BBD-F295-047D22F0EFEB}"/>
              </a:ext>
            </a:extLst>
          </p:cNvPr>
          <p:cNvSpPr txBox="1"/>
          <p:nvPr/>
        </p:nvSpPr>
        <p:spPr>
          <a:xfrm>
            <a:off x="696280" y="3015839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F7A5070D-F73C-D7BF-8CD5-1DF18CF139F4}"/>
              </a:ext>
            </a:extLst>
          </p:cNvPr>
          <p:cNvSpPr txBox="1">
            <a:spLocks/>
          </p:cNvSpPr>
          <p:nvPr/>
        </p:nvSpPr>
        <p:spPr>
          <a:xfrm>
            <a:off x="-3205711" y="-130129"/>
            <a:ext cx="11303886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Variable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2487A-53B5-D8AD-800A-CCF527DBDA8B}"/>
              </a:ext>
            </a:extLst>
          </p:cNvPr>
          <p:cNvSpPr txBox="1"/>
          <p:nvPr/>
        </p:nvSpPr>
        <p:spPr>
          <a:xfrm>
            <a:off x="149340" y="1240994"/>
            <a:ext cx="12366179" cy="2126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Feature importance analysis: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identify key predictors: 12m_call_history,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tenure_ratio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ann_prm_amt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home_lot_sq_footage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tenere_at_snapshot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pic>
        <p:nvPicPr>
          <p:cNvPr id="12" name="Picture 11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37D1C4BE-63CE-6608-A774-242DEA766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829" y="2310888"/>
            <a:ext cx="5946660" cy="3553975"/>
          </a:xfrm>
          <a:prstGeom prst="rect">
            <a:avLst/>
          </a:prstGeom>
        </p:spPr>
      </p:pic>
      <p:pic>
        <p:nvPicPr>
          <p:cNvPr id="10" name="Picture 9" descr="A graph with a bar and text&#10;&#10;Description automatically generated">
            <a:extLst>
              <a:ext uri="{FF2B5EF4-FFF2-40B4-BE49-F238E27FC236}">
                <a16:creationId xmlns:a16="http://schemas.microsoft.com/office/drawing/2014/main" id="{C763AB75-F23E-FEAC-3FEF-E6E1F214A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0" y="2304792"/>
            <a:ext cx="5946660" cy="356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7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9C27-A40A-2EAC-D9FC-683ABF8B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03C8900C-0B91-87FE-4240-724A6DC071BB}"/>
              </a:ext>
            </a:extLst>
          </p:cNvPr>
          <p:cNvSpPr txBox="1"/>
          <p:nvPr/>
        </p:nvSpPr>
        <p:spPr>
          <a:xfrm>
            <a:off x="696280" y="3015839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EC78C9D1-DC32-F034-E631-255250CE0773}"/>
              </a:ext>
            </a:extLst>
          </p:cNvPr>
          <p:cNvSpPr txBox="1">
            <a:spLocks/>
          </p:cNvSpPr>
          <p:nvPr/>
        </p:nvSpPr>
        <p:spPr>
          <a:xfrm>
            <a:off x="-2596641" y="-174306"/>
            <a:ext cx="11303886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we wish to Have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E1036-E2F3-389B-120A-E1FCDC629811}"/>
              </a:ext>
            </a:extLst>
          </p:cNvPr>
          <p:cNvSpPr txBox="1"/>
          <p:nvPr/>
        </p:nvSpPr>
        <p:spPr>
          <a:xfrm>
            <a:off x="435023" y="1388843"/>
            <a:ext cx="12366179" cy="7766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Personal Info: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Name, Age, Sex, Nationality,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Family Status ( whether marriage and have children)</a:t>
            </a:r>
          </a:p>
          <a:p>
            <a:pPr marL="469900" indent="-4572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Auto Info: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Ownership Status, Maintenance History, Driving History</a:t>
            </a:r>
          </a:p>
          <a:p>
            <a:pPr marL="12700"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 # of tickets, # of accidents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Others: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policyholder address, Home Ownership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# of people covered by one policy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# of polices one people purchased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3553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27D4-DAF2-15C5-0784-8CDE14519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35B4FDCA-FD6A-203D-B93F-7A64ADC11517}"/>
              </a:ext>
            </a:extLst>
          </p:cNvPr>
          <p:cNvSpPr txBox="1"/>
          <p:nvPr/>
        </p:nvSpPr>
        <p:spPr>
          <a:xfrm>
            <a:off x="696280" y="3015839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F83FD623-FFEE-6859-CFE1-61F895D589C5}"/>
              </a:ext>
            </a:extLst>
          </p:cNvPr>
          <p:cNvSpPr txBox="1">
            <a:spLocks/>
          </p:cNvSpPr>
          <p:nvPr/>
        </p:nvSpPr>
        <p:spPr>
          <a:xfrm>
            <a:off x="-2651069" y="-152535"/>
            <a:ext cx="11303886" cy="1189215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 about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96D33-4B25-D893-D3DC-FCA9C98E8870}"/>
              </a:ext>
            </a:extLst>
          </p:cNvPr>
          <p:cNvSpPr txBox="1"/>
          <p:nvPr/>
        </p:nvSpPr>
        <p:spPr>
          <a:xfrm>
            <a:off x="435023" y="1388843"/>
            <a:ext cx="11452177" cy="6342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Variables Meaning: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For categorical variable 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pay_type_code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  <a:r>
              <a:rPr lang="en-US" altLang="zh-CN" sz="2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prdct_sbtyp_grp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,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What do the categories "Method 1, 2, 3" and "A, B, C" represent?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Reasons for call: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Is it call two-way? Between policyholder and insurance company?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Potentials of Insurance Fraud: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We noticed that someone have too many call counts (near 200), while lived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 in a small house. It is abnormal. 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rebuchet MS"/>
              </a:rPr>
              <a:t>     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2421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C663-ABBE-4FD8-98C4-C5427D17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1">
            <a:extLst>
              <a:ext uri="{FF2B5EF4-FFF2-40B4-BE49-F238E27FC236}">
                <a16:creationId xmlns:a16="http://schemas.microsoft.com/office/drawing/2014/main" id="{866B591C-55D7-A450-A319-41379A48031A}"/>
              </a:ext>
            </a:extLst>
          </p:cNvPr>
          <p:cNvSpPr txBox="1"/>
          <p:nvPr/>
        </p:nvSpPr>
        <p:spPr>
          <a:xfrm>
            <a:off x="696280" y="3015839"/>
            <a:ext cx="11060697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  <a:p>
            <a:pPr marL="576580" marR="5080">
              <a:lnSpc>
                <a:spcPct val="100000"/>
              </a:lnSpc>
              <a:spcBef>
                <a:spcPts val="5"/>
              </a:spcBef>
            </a:pPr>
            <a:endParaRPr lang="en-US" sz="2000" b="1" spc="-100" dirty="0">
              <a:latin typeface="微软雅黑" panose="020B0503020204020204" pitchFamily="34" charset="-122"/>
              <a:ea typeface="微软雅黑" panose="020B0503020204020204" pitchFamily="34" charset="-122"/>
              <a:cs typeface="Trebuchet MS"/>
            </a:endParaRP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09A87193-B741-49FD-C0EC-F9D6BA9C4737}"/>
              </a:ext>
            </a:extLst>
          </p:cNvPr>
          <p:cNvSpPr txBox="1">
            <a:spLocks/>
          </p:cNvSpPr>
          <p:nvPr/>
        </p:nvSpPr>
        <p:spPr>
          <a:xfrm>
            <a:off x="191834" y="2188284"/>
            <a:ext cx="11303886" cy="1373881"/>
          </a:xfrm>
          <a:prstGeom prst="rect">
            <a:avLst/>
          </a:prstGeom>
        </p:spPr>
        <p:txBody>
          <a:bodyPr vert="horz" wrap="square" lIns="0" tIns="629074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US" sz="4800" b="1" spc="-1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669A70-B0C6-2973-DB8D-580C519BD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377" y="292286"/>
            <a:ext cx="5063971" cy="607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24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667</Words>
  <Application>Microsoft Macintosh PowerPoint</Application>
  <PresentationFormat>宽屏</PresentationFormat>
  <Paragraphs>133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Calibri</vt:lpstr>
      <vt:lpstr>Century 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Yixiao Wang</dc:creator>
  <cp:lastModifiedBy>Zixiao Tan</cp:lastModifiedBy>
  <cp:revision>16</cp:revision>
  <dcterms:created xsi:type="dcterms:W3CDTF">2024-11-19T23:40:34Z</dcterms:created>
  <dcterms:modified xsi:type="dcterms:W3CDTF">2025-12-05T19:21:12Z</dcterms:modified>
</cp:coreProperties>
</file>